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 · 00:00–00:35 · 35秒</a:t>
            </a:r>
          </a:p>
          <a:p/>
          <a:p>
            <a:r>
              <a:t>大家好，今天我展示的是 Paper2Video 项目，以及我们围绕教学场景做的改造。先请大家想象一个问题：把一章教材自动变成视频，文件能够播放，就能拿去教学了吗？我们的答案是，还需要检查讲了什么、声音是否完整、画面能否支持理解。接下来十五分钟，我重点讲两件事：第一，文字、视觉、语音等模型怎样分工和配置；第二，如何借鉴论文的评价体系，把评价放进生成流程。希望大家最后能判断，一段教学视频什么时候可以继续生成，什么时候必须停下来复核。</a:t>
            </a:r>
          </a:p>
          <a:p/>
          <a:p>
            <a:r>
              <a:t>操作提示：开场提问停顿3秒；点出“配置”和“评价”两条主线。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 · 00:35–01:20 · 45秒</a:t>
            </a:r>
          </a:p>
          <a:p/>
          <a:p>
            <a:r>
              <a:t>先明确三个名字。Paper2Video 是论文提出的任务与基准；PaperTalker 是论文中的生成框架；我们当前项目是在其代码基础上，面向中文教材和课堂展示做工程改造。论文发表于二〇二五年十月的这个预印本版本，收集了一百零一组研究论文及作者演示视频，视频平均六分十五秒。它关心的是长文档中的文字、公式、图表怎样转成彼此对齐的课件、声音、字幕和演讲者。我们进一步把使用场景放进翻转课堂：课前学生观看，课中教师讨论错题和例题，课后继续修订材料。这里教师审核是教学流程的一部分。</a:t>
            </a:r>
          </a:p>
          <a:p/>
          <a:p>
            <a:r>
              <a:t>操作提示：解释Paper2Video与PaperTalker不是两个模型。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 · 01:20–02:10 · 50秒</a:t>
            </a:r>
          </a:p>
          <a:p/>
          <a:p>
            <a:r>
              <a:t>论文把生成拆成四个 Builder。Slide Builder 写 Beamer 课件并根据编译反馈修复；Subtitle Builder 读取课件画面，生成讲解和视觉焦点；Cursor Builder 把焦点变成画面位置，并与语音时间对齐；Talker Builder 负责配音和演讲者视频。论文中的 Tree Search Visual Choice 会先生成不同字号或图像尺寸的候选，再让视觉模型选择更好的布局。当前项目保留这些分工，加入源文核对、讲稿审核、费用和双阶段问答。布局搜索在网页任务中是可配置项，默认关闭。论文按页并行生成数字人，而本项目的本地任务使用串行队列，讲稿请求可以单独设置并发。</a:t>
            </a:r>
          </a:p>
          <a:p/>
          <a:p>
            <a:r>
              <a:t>操作提示：沿流程从左到右指示；强调论文设计与本机实现的区别。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R：Paper2Video-main/src/model_runtime.py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 · 02:10–03:20 · 70秒</a:t>
            </a:r>
          </a:p>
          <a:p/>
          <a:p>
            <a:r>
              <a:t>这里是模型配置的核心。论文实验使用 GPT-4.1 作为视觉语言模型、Gemini-2.5-Flash 作为视频评价模型；语音使用 F5-TTS，光标定位使用 UI-TARS，时间对齐使用 WhisperX，演讲者使用 Hallo2 或 FantasyTalking。当前项目并没有照搬全部型号。网页百炼预设中，文字和课件是 qwen3.8-flash，视觉讲稿和定位使用 qwen3-vl-plus，配音使用 CosyVoice-v3.5-plus；成片识别保留本地 Qwen3-ASR。数字人可选本地 MuseTalk 或云端 wan2.2-s2v，新任务默认关闭。问答评价是独立角色，可以与生成模型采用不同连接。这里列的是代码预设，不是所有历史实验都用了这些型号。关键是为每个角色选择合适能力，而不是找一个最贵的模型包办所有环节。</a:t>
            </a:r>
          </a:p>
          <a:p/>
          <a:p>
            <a:r>
              <a:t>操作提示：表格从任务读到模型；ASR与数字人两行重点说明。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C：web/model_config.py</a:t>
            </a:r>
          </a:p>
          <a:p>
            <a:r>
              <a:t>F：web/frontend/src/modelConfig.ts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 · 03:20–04:25 · 65秒</a:t>
            </a:r>
          </a:p>
          <a:p/>
          <a:p>
            <a:r>
              <a:t>一个模型名字还不够。每个角色至少要记录运行模式、提供方、连接引用、型号和请求参数。文字、视觉和问答角色可以调整 temperature 和最大输出 token；留空意味着沿用模型接口默认值，项目没有统一的最佳温度。配置层允许温度零到二，输出上限还会结合型号目录进一步校验。云端配音语速是零点五到二，本地配音目前只支持默认语速。讲稿并发默认三，可在一到八之间调整，它只控制讲稿请求，不代表本地 GPU 可以同时跑八个任务。开始执行时，系统保存无密钥的配置快照，按角色使用对应连接。连接失效就要求重新绑定。这样才能解释，为什么同一素材的两次结果不同，而不是只留下一个视频文件。</a:t>
            </a:r>
          </a:p>
          <a:p/>
          <a:p>
            <a:r>
              <a:t>操作提示：示例仅展示单角色配置；参数示例不是推荐最优值。</a:t>
            </a:r>
          </a:p>
          <a:p/>
          <a:p>
            <a:r>
              <a:t>来源：</a:t>
            </a:r>
          </a:p>
          <a:p>
            <a:r>
              <a:t>C：web/model_config.py</a:t>
            </a:r>
          </a:p>
          <a:p>
            <a:r>
              <a:t>F：web/frontend/src/modelConfig.ts</a:t>
            </a:r>
          </a:p>
          <a:p>
            <a:r>
              <a:t>R：Paper2Video-main/src/model_runtime.py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 · 04:25–05:20 · 55秒</a:t>
            </a:r>
          </a:p>
          <a:p/>
          <a:p>
            <a:r>
              <a:t>本项目支持两种预设，也允许逐角色自定义。API 路线可以减少本地生成模型的加载压力，但会上传相应材料，产生调用费用，并依赖服务连接。本地路线需要准备权重、显存和运行环境，也会消耗时间与算力。需要特别说明，本地预设不等于全链路完全离线：文字、视觉和问答仍需要明确的兼容服务，可以由部署者提供本地服务。与此同时，当前成片问答强制使用本地 Qwen3-ASR，所以百炼预设也不是纯云方案。如果云端适配器没有实现，系统会报错，而不是自动换到本地。课堂展示时，我会先用已有截图讲清配置，再演示只读结果，避免现场等待完整生成。</a:t>
            </a:r>
          </a:p>
          <a:p/>
          <a:p>
            <a:r>
              <a:t>操作提示：用两列比较；讲清两种预设的实际边界。</a:t>
            </a:r>
          </a:p>
          <a:p/>
          <a:p>
            <a:r>
              <a:t>来源：</a:t>
            </a:r>
          </a:p>
          <a:p>
            <a:r>
              <a:t>C：web/model_config.py</a:t>
            </a:r>
          </a:p>
          <a:p>
            <a:r>
              <a:t>F：web/frontend/src/modelConfig.ts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 · 05:20–06:15 · 55秒</a:t>
            </a:r>
          </a:p>
          <a:p/>
          <a:p>
            <a:r>
              <a:t>光标和字幕需要同时解决两个问题：指向哪里，什么时候出现。论文用 UI-TARS 定位，再用 WhisperX 提取字词时间。当前项目会优先用 PDF 文字定位，找不到合适目标时，再走配置的定位模型。云配音直接使用合成服务返回的真实字词时间，本地配音则使用 ForcedAligner。口播中的数字或公式与云端转写不一致时，系统可能拒绝合片，这时应修正口播和映射，不能平均切时间来伪装成功。新版字幕沿真实字词边界拆句，增加独立字幕区域；不需要指示时隐藏光标。数字人启用后，音频按目标十八秒拆分，并严格保证每段小于二十秒，检查采样是否连续。</a:t>
            </a:r>
          </a:p>
          <a:p/>
          <a:p>
            <a:r>
              <a:t>操作提示：指示“口播→时间轴→字幕/光标”；十八秒是分段目标。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C：web/model_config.py</a:t>
            </a:r>
          </a:p>
          <a:p>
            <a:r>
              <a:t>L：docs/全链路P1与P2修复与离线验收.md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 · 06:15–07:15 · 60秒</a:t>
            </a:r>
          </a:p>
          <a:p/>
          <a:p>
            <a:r>
              <a:t>费用也属于配置的一部分。第二章历史实测累计标准价估算为五点六六九四元，覆盖了一百二十二条去重费用记录。这次包含视觉转录对照、失败后的配音恢复，以及一个 Wan 短片，所以不能把它当成生成一章的固定报价。账本中 Wan 检测和生成约三点〇六九元，配音约二点三七三二元；主视频并没有整章数字人。启用数字人或自动重生成，都可能继续增加费用。当前新任务默认关闭数字人，自动重生成默认最多两次，超过后交给用户决策。缓存只有在素材、模型和参数等指纹一致且通过校验时才复用。失败请求若已产生用量，也应计入累计成本。</a:t>
            </a:r>
          </a:p>
          <a:p/>
          <a:p>
            <a:r>
              <a:t>操作提示：金额为历史标准价估算，非账单；不要泛化成每章价格。</a:t>
            </a:r>
          </a:p>
          <a:p/>
          <a:p>
            <a:r>
              <a:t>来源：</a:t>
            </a:r>
          </a:p>
          <a:p>
            <a:r>
              <a:t>H：docs/自然语言处理第二章全链路实测评估.md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 · 07:15–08:10 · 55秒</a:t>
            </a:r>
          </a:p>
          <a:p/>
          <a:p>
            <a:r>
              <a:t>论文的评价体系很适合帮助我们拆开质量问题。Meta Similarity 比较生成内容和真人材料，并比较音色嵌入；它回答的是相似性。PresentArena 让视频模型比较两个视频，并交换输入顺序，观察偏好。PresentQuiz 从原始论文出四选一题，再让模型依据视频回答，用来衡量信息覆盖。IP Memory 则让模型根据演讲者肖像，在四组短片和问题之间做关联，关注作者辨识。它不是隔天知识记忆测试。当前项目优先集成 PresentQuiz 的思路，其他研究脚本虽然保留，却没有全部集成到网页。我们还需要单独检查可读性、事实和声音，不能把这四种指标简单平均成教学总分。</a:t>
            </a:r>
          </a:p>
          <a:p/>
          <a:p>
            <a:r>
              <a:t>操作提示：四项评价各用一句话解释；标注当前集成范围。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 · 08:10–09:15 · 65秒</a:t>
            </a:r>
          </a:p>
          <a:p/>
          <a:p>
            <a:r>
              <a:t>为什么出题必须来自核对过的原文？假设讲稿把某个定义写错了，如果根据这份讲稿出题，错误定义也会变成标准答案，系统就可能自我通过。当前实现从核对后的原文或选定教学范围出题，默认二十道四选一题，包含细节和理解类别。每题保存标准答案和逐字原文摘录，并检查摘录确实存在。答题请求只发送题目、选项和待评价材料，不发送答案与原文依据。两轮在条件不变时使用固定题库。答对且提供可核验材料依据，才计为有效正确题。二十题意味着一题就是五个百分点，门槛附近的变化应逐题检查。需要承认，题目和标准答案的语义仍可能有问题，人工复核不能被摘录校验替代。</a:t>
            </a:r>
          </a:p>
          <a:p/>
          <a:p>
            <a:r>
              <a:t>操作提示：用数据流说明答案留在评分端；示例题是课堂示意。</a:t>
            </a:r>
          </a:p>
          <a:p/>
          <a:p>
            <a:r>
              <a:t>来源：</a:t>
            </a:r>
          </a:p>
          <a:p>
            <a:r>
              <a:t>Q：Paper2Video-main/src/qa_evaluation.py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 · 09:15–10:20 · 65秒</a:t>
            </a:r>
          </a:p>
          <a:p/>
          <a:p>
            <a:r>
              <a:t>双阶段的意义，在于评价对象发生了变化。讲稿阶段只读取实际口播文本，不把光标指令当作教学内容。成片阶段必须从最终视频独立提取完整音轨，每六十秒一段，用本地 Qwen3-ASR 识别，并均匀抽取四到二十四张实际画面。这里没有把原讲稿拿来冒充成片证据，也不是直接把完整视频交给论文中的视频模型。两次分数如果下降，可能与配音缺失、识别错误、图示不清或材料变化有关，要查看证据才能定位。文本依据检查逐字匹配；画面依据检查抽样时间，但画面文字是否真实仍依赖评委。报告保存原文、材料、模型与题库指纹，材料一旦改变，旧评价就不能继续放行。</a:t>
            </a:r>
          </a:p>
          <a:p/>
          <a:p>
            <a:r>
              <a:t>操作提示：强调“音轨来自最终视频”；抽帧有上限，无法覆盖每个画面。</a:t>
            </a:r>
          </a:p>
          <a:p/>
          <a:p>
            <a:r>
              <a:t>来源：</a:t>
            </a:r>
          </a:p>
          <a:p>
            <a:r>
              <a:t>Q：Paper2Video-main/src/qa_evaluation.py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 · 10:20–11:20 · 60秒</a:t>
            </a:r>
          </a:p>
          <a:p/>
          <a:p>
            <a:r>
              <a:t>默认规则是：讲稿达到百分之八十，可以自动进入配音合片，但教学结构审核也必须通过。成片低于百分之六十，系统根据错题和原文依据调整讲稿提示词，生成新任务；六十到不足八十之间，等待用户接受或重生成；八十及以上完成。如果最多两次自动重生成都没有通过，就暂停。现在请大家快速判断：讲稿十七题正确，成片十四题正确，应该自动完成吗？停顿后给出答案：不应该，成片是百分之七十，处在人工决策区间。另一个情况是识别异常，它没有有效分数，应暂停复核，而不是记零分触发重做。这些阈值是可调整的工程策略，不是论文规定的教学合格标准。</a:t>
            </a:r>
          </a:p>
          <a:p/>
          <a:p>
            <a:r>
              <a:t>操作提示：互动预留12秒；答案是人工决策，不能自动完成。</a:t>
            </a:r>
          </a:p>
          <a:p/>
          <a:p>
            <a:r>
              <a:t>来源：</a:t>
            </a:r>
          </a:p>
          <a:p>
            <a:r>
              <a:t>C：web/model_config.py</a:t>
            </a:r>
          </a:p>
          <a:p>
            <a:r>
              <a:t>Q：Paper2Video-main/src/qa_evaluation.py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 · 11:20–12:25 · 65秒</a:t>
            </a:r>
          </a:p>
          <a:p/>
          <a:p>
            <a:r>
              <a:t>这页只看论文实验，不是我们的项目测试。表二中，PaperTalker 的细节问答准确率是八十四点二，理解题是九十五点一；真人视频分别是七十三点八和九十点八。看起来生成视频在模型问答上更强。但图六的人工偏好评价中，真人视频得四点六分，PaperTalker 得三点八分，评价抽取十篇论文、十名参与者。这说明信息覆盖和观看偏好测量的是不同维度。论文还报告了光标定位任务中有光标与无光标的准确率差异，但那是位置识别，不能解释成学生学习能力提高。同样，论文在八张 A6000 上测试的生成效率也不能直接套到本机。真正有用的启发是：同一视频要用不同证据，从多个维度评价。</a:t>
            </a:r>
          </a:p>
          <a:p/>
          <a:p>
            <a:r>
              <a:t>操作提示：左边单位为%，右边为1–5分，不能直接相互比较。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 · 12:25–13:25 · 60秒</a:t>
            </a:r>
          </a:p>
          <a:p/>
          <a:p>
            <a:r>
              <a:t>回到本项目。二〇二六年十月八日第二章历史实测，十七页教材生成十二页课件，人工辅助恢复后，主视频时长二十五分二十四秒，全程解码通过。但是报告仍发现字幕遮挡、课件裁切和讲稿事实问题。画面中这段长字幕覆盖了网络图和图注；讲稿里还有梯度与负梯度、正向微分与数值差分混淆。这就是为什么，能播放不能证明能教学。之后代码已经加入独立字幕区、例题和结构门禁，并在十月十一日加入双阶段问答。最新版通过了十六项问答离线回归，识别和模型使用替身；还没有新的真实问答成绩，也没有学生学习实验。因此旧样本揭示问题，新版测试证明流程，二者证据不能混用。</a:t>
            </a:r>
          </a:p>
          <a:p/>
          <a:p>
            <a:r>
              <a:t>操作提示：图片为历史成片抽帧；不要说新版仍有该遮挡或已经真实解决全章。</a:t>
            </a:r>
          </a:p>
          <a:p/>
          <a:p>
            <a:r>
              <a:t>来源：</a:t>
            </a:r>
          </a:p>
          <a:p>
            <a:r>
              <a:t>H：docs/自然语言处理第二章全链路实测评估.md</a:t>
            </a:r>
          </a:p>
          <a:p>
            <a:r>
              <a:t>L：docs/全链路P1与P2修复与离线验收.md</a:t>
            </a:r>
          </a:p>
          <a:p>
            <a:r>
              <a:t>V：log/2026-10-11_17-30-00_数字人成本提醒与双阶段问答评价.md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 · 13:25–14:15 · 50秒</a:t>
            </a:r>
          </a:p>
          <a:p/>
          <a:p>
            <a:r>
              <a:t>课堂展示可以这样组织。课前让学生带着三个问题看短视频：模型怎样分工、评价依据从哪里来、低分怎样处理。课中先展示模型配置，再看双评分卡与逐题依据，让同学决定接受还是重生成。右侧截图中八十五与七十是离线测试夹具，用于展示界面，不能当成真实项目成绩。请大家再选一个最需要验证的因素：更换评价模型、增加字幕安全区，还是开启数字人？这些都能作为后续实验，但每次只改变一个因素，其他材料和题库固定。最后用原文复核错题，并补充学生观看前后测。今天演示已有截图就可以完成这条流程，不需要现场生成二十五分钟视频。</a:t>
            </a:r>
          </a:p>
          <a:p/>
          <a:p>
            <a:r>
              <a:t>操作提示：互动15秒；可接受多种选择，但要求说明控制变量。</a:t>
            </a:r>
          </a:p>
          <a:p/>
          <a:p>
            <a:r>
              <a:t>来源：</a:t>
            </a:r>
          </a:p>
          <a:p>
            <a:r>
              <a:t>F：web/frontend/src/modelConfig.ts</a:t>
            </a:r>
          </a:p>
          <a:p>
            <a:r>
              <a:t>D：docs/双阶段问答评价与数字人成本控制.md</a:t>
            </a:r>
          </a:p>
          <a:p>
            <a:r>
              <a:t>V：log/2026-10-11_17-30-00_数字人成本提醒与双阶段问答评价.md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 · 14:15–15:00 · 45秒</a:t>
            </a:r>
          </a:p>
          <a:p/>
          <a:p>
            <a:r>
              <a:t>最后回到今天的目标。模型配置的价值，是让每个环节职责明确、参数可追溯、执行可校验。评价的价值，是把发现的问题转成下一步动作。论文提供了多模态分工和四类评价思路；当前项目把其中的原文问答思路扩展为讲稿与成片两轮，并加入阈值、费用控制和人工决策。接下来要做的是，选一组人工复核题，真实运行新版评价，再固定题库比较修改前后的产物，补充连续听审和学生前后测。我们能展示的是一个可以审核、可以追溯的生成系统；能否真正提高学习效果，还需要真实课堂的数据来回答。谢谢大家。</a:t>
            </a:r>
          </a:p>
          <a:p/>
          <a:p>
            <a:r>
              <a:t>操作提示：用三句话收束：角色分工、证据评分、人工决策。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D：docs/双阶段问答评价与数字人成本控制.md</a:t>
            </a:r>
          </a:p>
          <a:p>
            <a:r>
              <a:t>V：log/2026-10-11_17-30-00_数字人成本提醒与双阶段问答评价.md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 · 备用 · 0秒</a:t>
            </a:r>
          </a:p>
          <a:p/>
          <a:p>
            <a:r>
              <a:t>问：为什么不只用一个大模型？答：生成、语音、定位和评价需要不同能力与接口，按角色拆分更便于替换与定位故障。问：八十的阈值从哪里来？答：当前工程默认，可配置，尚未用学生效果标定。问：题目有原文摘录就一定正确吗？答：只能证明摘录存在，题意、答案与推断仍需人工复核。问：问答高分能否说明视频没有错误？答：题库和抽帧有限，必须补源文事实审核与连续听审。问：IP Memory 是否等于学习记忆？答：论文做的是肖像与视频问题关联，不是隔天概念测验。问：本地模式完全离线吗？答：需要单独部署文字、视觉和问答兼容服务，当前预设本身不构成完全离线承诺。</a:t>
            </a:r>
          </a:p>
          <a:p/>
          <a:p>
            <a:r>
              <a:t>操作提示：备用，不计入主讲15分钟。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C：web/model_config.py</a:t>
            </a:r>
          </a:p>
          <a:p>
            <a:r>
              <a:t>Q：Paper2Video-main/src/qa_evaluation.py</a:t>
            </a:r>
          </a:p>
          <a:p>
            <a:r>
              <a:t>D：docs/双阶段问答评价与数字人成本控制.md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 · 备用 · 0秒</a:t>
            </a:r>
          </a:p>
          <a:p/>
          <a:p>
            <a:r>
              <a:t>论文引用按PDF显示页码：方法第五至七页；评价第四至五页及第十四页；表二和图六在第八页，课件质量与光标消融在第九页。当前项目以代码和最新验收日志为准，早期README存在阶段描述，不能作为当前能力唯一依据。配套讲稿包含完整来源表、时间分配、演示步骤与口径说明。全部课件生成在本地进行，未创建生产任务、未调用付费模型。</a:t>
            </a:r>
          </a:p>
          <a:p/>
          <a:p>
            <a:r>
              <a:t>操作提示：备用，不计入主讲15分钟。</a:t>
            </a:r>
          </a:p>
          <a:p/>
          <a:p>
            <a:r>
              <a:t>来源：</a:t>
            </a:r>
          </a:p>
          <a:p>
            <a:r>
              <a:t>P：docs/Paper2Video.pdf</a:t>
            </a:r>
          </a:p>
          <a:p>
            <a:r>
              <a:t>C：web/model_config.py</a:t>
            </a:r>
          </a:p>
          <a:p>
            <a:r>
              <a:t>F：web/frontend/src/modelConfig.ts</a:t>
            </a:r>
          </a:p>
          <a:p>
            <a:r>
              <a:t>R：Paper2Video-main/src/model_runtime.py</a:t>
            </a:r>
          </a:p>
          <a:p>
            <a:r>
              <a:t>Q：Paper2Video-main/src/qa_evaluation.py</a:t>
            </a:r>
          </a:p>
          <a:p>
            <a:r>
              <a:t>D：docs/双阶段问答评价与数字人成本控制.md</a:t>
            </a:r>
          </a:p>
          <a:p>
            <a:r>
              <a:t>H：docs/自然语言处理第二章全链路实测评估.md</a:t>
            </a:r>
          </a:p>
          <a:p>
            <a:r>
              <a:t>L：docs/全链路P1与P2修复与离线验收.md</a:t>
            </a:r>
          </a:p>
          <a:p>
            <a:r>
              <a:t>V：log/2026-10-11_17-30-00_数字人成本提醒与双阶段问答评价.md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B5D6C0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开场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51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B5D6C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B5D6C0"/>
                </a:solidFill>
                <a:latin typeface="Microsoft YaHei"/>
              </a:defRPr>
            </a:pPr>
            <a:r>
              <a:rPr>
                <a:ea typeface="Microsoft YaHei"/>
              </a:rPr>
              <a:t>01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" y="1409700"/>
            <a:ext cx="11049000" cy="15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00"/>
              </a:lnSpc>
              <a:spcAft>
                <a:spcPts val="0"/>
              </a:spcAft>
              <a:defRPr sz="4560" b="1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</a:t>
            </a:r>
          </a:p>
          <a:p>
            <a:pPr>
              <a:lnSpc>
                <a:spcPts val="5700"/>
              </a:lnSpc>
              <a:spcAft>
                <a:spcPts val="0"/>
              </a:spcAft>
              <a:defRPr sz="4560" b="1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从论文方法到教学实践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54680"/>
            <a:ext cx="1051560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400" b="0">
                <a:solidFill>
                  <a:srgbClr val="CEE1CF"/>
                </a:solidFill>
                <a:latin typeface="Microsoft YaHei"/>
              </a:defRPr>
            </a:pPr>
            <a:r>
              <a:rPr>
                <a:ea typeface="Microsoft YaHei"/>
              </a:rPr>
              <a:t>模型如何配置？生成结果如何评估？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152900"/>
            <a:ext cx="6324600" cy="876300"/>
          </a:xfrm>
          <a:prstGeom prst="rect">
            <a:avLst/>
          </a:prstGeom>
          <a:solidFill>
            <a:srgbClr val="2A5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720" y="4267200"/>
            <a:ext cx="5943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15分钟  /  模型分工 → 证据评价 → 人工决策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26380"/>
            <a:ext cx="10058400" cy="518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课堂目标：判断一段教学视频是否值得继续生成和使用。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论文与场景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论文解决什么问题？课堂需要什么？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706880"/>
            <a:ext cx="320040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900"/>
              </a:lnSpc>
              <a:spcAft>
                <a:spcPts val="0"/>
              </a:spcAft>
              <a:defRPr sz="552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2674620"/>
            <a:ext cx="3200400" cy="85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组论文—作者演示视频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平均时长 6分15秒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1783080"/>
            <a:ext cx="70866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Paper2Video：基准与任务</a:t>
            </a:r>
          </a:p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PaperTalker：生成框架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2766060"/>
            <a:ext cx="71628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挑战：长文档、密集图表与公式</a:t>
            </a:r>
          </a:p>
          <a:p>
            <a:pPr>
              <a:lnSpc>
                <a:spcPts val="2325"/>
              </a:lnSpc>
              <a:spcAft>
                <a:spcPts val="0"/>
              </a:spcAft>
              <a:defRPr sz="185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课件、字幕、声音、光标、人物需要对齐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" y="411480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120" y="4335780"/>
            <a:ext cx="3200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01  课前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" y="4899660"/>
            <a:ext cx="3200400" cy="723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看短视频，带着问题学习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80" y="4335780"/>
            <a:ext cx="3200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02  课中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3880" y="4899660"/>
            <a:ext cx="3200400" cy="723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复核错题，讨论例题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8640" y="4335780"/>
            <a:ext cx="3200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03  课后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4899660"/>
            <a:ext cx="3200400" cy="723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修订材料，比较版本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" y="5715000"/>
            <a:ext cx="108966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5"/>
              </a:lnSpc>
              <a:spcAft>
                <a:spcPts val="0"/>
              </a:spcAft>
              <a:defRPr sz="13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基准统计来自论文§3.2；翻转课堂流程为本次展示设计。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方法框架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四个 Builder，串起多模态生成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866899"/>
            <a:ext cx="2628900" cy="17145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760" y="20116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Aft>
                <a:spcPts val="0"/>
              </a:spcAft>
              <a:defRPr sz="210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0" y="25069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课件生成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60" y="3017520"/>
            <a:ext cx="2301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4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Beamer + 编译反馈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5640" y="2514600"/>
            <a:ext cx="228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8040" y="1866899"/>
            <a:ext cx="2628900" cy="17145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5680" y="20116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Aft>
                <a:spcPts val="0"/>
              </a:spcAft>
              <a:defRPr sz="210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80" y="25069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讲稿 / 焦点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680" y="3017520"/>
            <a:ext cx="2301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4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视觉模型读课件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4560" y="2514600"/>
            <a:ext cx="228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1866899"/>
            <a:ext cx="2628900" cy="17145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600" y="20116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Aft>
                <a:spcPts val="0"/>
              </a:spcAft>
              <a:defRPr sz="210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25069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时空定位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3017520"/>
            <a:ext cx="2301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4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坐标 + 字词时间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3480" y="2514600"/>
            <a:ext cx="228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5880" y="1866899"/>
            <a:ext cx="2628900" cy="17145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3520" y="20116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Aft>
                <a:spcPts val="0"/>
              </a:spcAft>
              <a:defRPr sz="210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Talker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3520" y="2506980"/>
            <a:ext cx="230124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声音 / 人物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3520" y="3017520"/>
            <a:ext cx="2301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4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配音 + 数字人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120" y="3954780"/>
            <a:ext cx="10896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论文：候选布局渲染 → 视觉选择；按页并行生成数字人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120" y="4709160"/>
            <a:ext cx="10896600" cy="716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项目：源文核对 → 讲稿审核 → 双阶段问答 → 可追溯重生成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网页布局搜索默认关闭；本地任务串行，讲稿API请求可并发。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模型按角色选择，型号可以替换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C ·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691640"/>
            <a:ext cx="1638300" cy="4648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179070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任务角色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7420" y="1691640"/>
            <a:ext cx="2514600" cy="4648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9340" y="179070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论文设置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2020" y="1691640"/>
            <a:ext cx="3543300" cy="4648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3940" y="179070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当前项目可用路线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691640"/>
            <a:ext cx="3337560" cy="4648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7240" y="179070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负责什么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9120" y="2156460"/>
            <a:ext cx="1638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040" y="224790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文字 / 课件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7420" y="2156460"/>
            <a:ext cx="25146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9340" y="224790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GPT-4.1¹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2020" y="2156460"/>
            <a:ext cx="3543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3940" y="224790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qwen3.8-flash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156460"/>
            <a:ext cx="333756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7240" y="224790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原文 → 结构 / Beamer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120" y="2621280"/>
            <a:ext cx="16383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040" y="271272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视觉 / 讲稿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7420" y="2621280"/>
            <a:ext cx="25146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9340" y="271272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GPT-4.1¹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2020" y="2621280"/>
            <a:ext cx="35433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3940" y="271272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qwen3-vl-plus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2621280"/>
            <a:ext cx="333756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7240" y="271272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课件画面 → 口播 / 焦点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120" y="3086100"/>
            <a:ext cx="1638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040" y="317754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配音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17420" y="3086100"/>
            <a:ext cx="25146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9340" y="317754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F5-TTS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32020" y="3086100"/>
            <a:ext cx="3543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53940" y="317754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CosyVoice-v3.5-plus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086100"/>
            <a:ext cx="333756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7240" y="317754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口播 → 声音 / 时间戳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120" y="3550920"/>
            <a:ext cx="16383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040" y="364236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识别 / 对齐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17420" y="3550920"/>
            <a:ext cx="25146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9340" y="364236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WhisperX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2020" y="3550920"/>
            <a:ext cx="35433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3940" y="364236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Qwen3-ASR / ForcedAligner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550920"/>
            <a:ext cx="333756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7240" y="364236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真实音轨识别 / 本地对齐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9120" y="4015740"/>
            <a:ext cx="1638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1040" y="4107179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光标定位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17420" y="4015740"/>
            <a:ext cx="25146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9340" y="4107179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UI-TARS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32020" y="4015740"/>
            <a:ext cx="3543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53940" y="4107179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PDF优先；Qwen3-VL / GUI-Owl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4015740"/>
            <a:ext cx="333756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97240" y="4107179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焦点 → 画面坐标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9120" y="4480560"/>
            <a:ext cx="16383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1040" y="457200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数字人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17420" y="4480560"/>
            <a:ext cx="25146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39340" y="457200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Hallo2 / FantasyTalking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32020" y="4480560"/>
            <a:ext cx="354330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53940" y="457200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MuseTalk / wan2.2-s2v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4480560"/>
            <a:ext cx="3337560" cy="4648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97240" y="457200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可选；新任务默认关闭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9120" y="4945380"/>
            <a:ext cx="1638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1040" y="5036820"/>
            <a:ext cx="1394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问答评价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17420" y="4945380"/>
            <a:ext cx="25146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9340" y="5036820"/>
            <a:ext cx="22707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Gemini-2.5-Flash²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32020" y="4945380"/>
            <a:ext cx="354330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53940" y="5036820"/>
            <a:ext cx="329946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独立 qa；qwen3-vl-plus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945380"/>
            <a:ext cx="3337560" cy="464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97240" y="5036820"/>
            <a:ext cx="309372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题库、材料 → 带证据的答案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9120" y="5615940"/>
            <a:ext cx="1103376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¹ 论文VLM设置；² 论文VideoLLM设置。项目型号为代码预设 / 可选路线，非历史统一配置。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配置要能复现，也要能在执行前校验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C · F ·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775460"/>
            <a:ext cx="5059680" cy="340614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632960" cy="3002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单角色示例 · 不是完整任务JSON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"mode": "api"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"provider": "bailian"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"connection_id": "class-demo"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"model": "qwen3-vl-plus"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"parameters": {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    "temperature": 0.2</a:t>
            </a:r>
          </a:p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F5F3EB"/>
                </a:solidFill>
                <a:latin typeface="Microsoft YaHei"/>
              </a:defRPr>
            </a:pPr>
            <a:r>
              <a:rPr>
                <a:ea typeface="Microsoft YaHei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36420"/>
            <a:ext cx="561594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模式、连接、型号、参数</a:t>
            </a:r>
          </a:p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一起进入任务快照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811780"/>
            <a:ext cx="5615940" cy="190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文字 / 视觉 / qa：温度、输出上限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云配音语速：0.5–2；本地仅默认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讲稿并发：默认3，范围1–8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凭据失效：重新绑定后才能继续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温度示例不代表最优值；未设置参数时沿用接口默认。快照不保存密钥。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本地 / API：按资源和环节组合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C · F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775460"/>
            <a:ext cx="5257800" cy="27127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9120" y="1775460"/>
            <a:ext cx="525780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6156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API 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13660"/>
            <a:ext cx="4861560" cy="1722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减轻本地生成模型加载压力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需要连接、材料上传和费用记录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可使用合成服务的字词时间戳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1775460"/>
            <a:ext cx="5516880" cy="27127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0" y="1775460"/>
            <a:ext cx="55168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4120" y="1965960"/>
            <a:ext cx="51206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本地路线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4120" y="2613660"/>
            <a:ext cx="5120640" cy="1722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准备权重、显存与运行环境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Qwen3-TTS / Qwen3-ASR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GUI-Owl定位 / MuseTalk数字人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文字、视觉、qa需要明确兼容服务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" y="4808220"/>
            <a:ext cx="1103376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当前成片问答仍用本地 Qwen3-ASR；“百炼预设”是混合链路。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目录里可见型号 ≠ 当前适配器可执行；未实现路线在执行前拦截。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对齐靠真实时间轴，不靠平均分配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C ·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836420"/>
            <a:ext cx="33909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39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2697480"/>
            <a:ext cx="3390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口播与真实音频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3383280"/>
            <a:ext cx="33909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数字 / 公式先规范化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8640" y="1836420"/>
            <a:ext cx="33909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39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8640" y="2697480"/>
            <a:ext cx="3390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字词时间轴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3383280"/>
            <a:ext cx="33909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云时间戳 / 本地对齐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36420"/>
            <a:ext cx="33909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39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97480"/>
            <a:ext cx="3390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字幕与光标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83280"/>
            <a:ext cx="33909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按词切句 / 空间定位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" y="4541520"/>
            <a:ext cx="11033760" cy="7543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PDF文字定位优先；无指示时隐藏光标；字幕区与课件分离。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数字人开启才分段：目标18秒，严格 &lt;20秒，检查采样连续且无重复。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配置选择，也会改变费用与重试成本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H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691640"/>
            <a:ext cx="5105400" cy="9372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300"/>
              </a:lnSpc>
              <a:spcAft>
                <a:spcPts val="0"/>
              </a:spcAft>
              <a:defRPr sz="504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¥ 5.6694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2682240"/>
            <a:ext cx="4876800" cy="1104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第二章历史实测累计估算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122条去重记录 · 含失败恢复与Wan短片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1720" y="1874519"/>
            <a:ext cx="51816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Wan检测 + 短片    ¥3.0690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1720" y="2293620"/>
            <a:ext cx="4953000" cy="2133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1720" y="2293620"/>
            <a:ext cx="4903470" cy="21336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1720" y="2887980"/>
            <a:ext cx="51816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TTS配音    ¥2.3732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1720" y="3307080"/>
            <a:ext cx="4953000" cy="2133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1720" y="3307080"/>
            <a:ext cx="3791761" cy="213360"/>
          </a:xfrm>
          <a:prstGeom prst="rect">
            <a:avLst/>
          </a:prstGeom>
          <a:solidFill>
            <a:srgbClr val="638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720" y="3901440"/>
            <a:ext cx="51816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文字 / 视觉 / 定位    ¥0.2272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1720" y="4320540"/>
            <a:ext cx="4953000" cy="2133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1720" y="4320540"/>
            <a:ext cx="363040" cy="213360"/>
          </a:xfrm>
          <a:prstGeom prst="rect">
            <a:avLst/>
          </a:prstGeom>
          <a:solidFill>
            <a:srgbClr val="94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120" y="4587240"/>
            <a:ext cx="11033760" cy="678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策略：数字人默认关；自动重生成最多2次；有效缓存才复用。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936817"/>
                </a:solidFill>
                <a:latin typeface="Microsoft YaHei"/>
              </a:defRPr>
            </a:pPr>
            <a:r>
              <a:rPr>
                <a:ea typeface="Microsoft YaHei"/>
              </a:rPr>
              <a:t>历史标准价估算，非账户账单；不含本地算力、OSS与Codex/ImageGen。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评估体系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论文用四种评价，回答四类问题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09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836420"/>
            <a:ext cx="2590800" cy="6934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1935480"/>
            <a:ext cx="23469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论文指标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9920" y="1836420"/>
            <a:ext cx="4190999" cy="6934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35480"/>
            <a:ext cx="39471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测量目标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836420"/>
            <a:ext cx="4251960" cy="69342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2840" y="1935480"/>
            <a:ext cx="400812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当前项目边界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120" y="2529840"/>
            <a:ext cx="2590800" cy="693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040" y="2621280"/>
            <a:ext cx="23469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Meta Similarity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69920" y="2529840"/>
            <a:ext cx="4190999" cy="693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621280"/>
            <a:ext cx="39471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内容 / 音色是否像真人材料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529840"/>
            <a:ext cx="4251960" cy="693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2840" y="2621280"/>
            <a:ext cx="400812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研究脚本保留，网页未完整集成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3223260"/>
            <a:ext cx="2590800" cy="6934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040" y="3314700"/>
            <a:ext cx="23469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PresentArena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9920" y="3223260"/>
            <a:ext cx="4190999" cy="6934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314700"/>
            <a:ext cx="39471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哪个视频更好？交换A/B顺序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223260"/>
            <a:ext cx="4251960" cy="6934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2840" y="3314700"/>
            <a:ext cx="400812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建议用于版本对照，未完整集成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" y="3916680"/>
            <a:ext cx="2590800" cy="693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040" y="4008120"/>
            <a:ext cx="23469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PresentQuiz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69920" y="3916680"/>
            <a:ext cx="4190999" cy="693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008120"/>
            <a:ext cx="39471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视频覆盖了多少原文知识？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916680"/>
            <a:ext cx="4251960" cy="693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2840" y="4008120"/>
            <a:ext cx="400812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已借鉴：讲稿 + 成片双阶段问答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120" y="4610100"/>
            <a:ext cx="2590800" cy="6934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040" y="4701540"/>
            <a:ext cx="23469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IP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9920" y="4610100"/>
            <a:ext cx="4190999" cy="6934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701540"/>
            <a:ext cx="394716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肖像能否关联到视频与问题？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4610100"/>
            <a:ext cx="4251960" cy="69342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2840" y="4701540"/>
            <a:ext cx="400812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低优先级；不是隔天学习记忆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评价维度分开报告；事实、可读性、音质与学习成效仍需其他证据。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问答评价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固定原文题库，避免“自己出题自己过关”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Q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836420"/>
            <a:ext cx="3535680" cy="22860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9120" y="1836420"/>
            <a:ext cx="35356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6920"/>
            <a:ext cx="31394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核对后的原文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4620"/>
            <a:ext cx="313944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细节题 + 理解题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默认20道四选一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640" y="1836420"/>
            <a:ext cx="3535680" cy="22860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8640" y="1836420"/>
            <a:ext cx="35356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2026920"/>
            <a:ext cx="31394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固定题库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2674620"/>
            <a:ext cx="313944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保存答案与原文摘录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人工复核题意与答案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36420"/>
            <a:ext cx="3535680" cy="22860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36420"/>
            <a:ext cx="35356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280" y="2026920"/>
            <a:ext cx="31394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仅依据产物答题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280" y="2674620"/>
            <a:ext cx="313944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题目 + 选项 + 材料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不给答案和原文依据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20" y="4488180"/>
            <a:ext cx="1103376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有效正确题：答案正确，而且材料依据通过校验。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问答分数 = 有效正确题 / 总题数 × 100%；20题时，每题改变5个百分点。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问答评价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讲稿评价与成片评价，使用不同证据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Q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813560"/>
            <a:ext cx="5257800" cy="25374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9120" y="1813560"/>
            <a:ext cx="525780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04060"/>
            <a:ext cx="486156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① 讲稿评价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61560" cy="1546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只读取口播内容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检查是否覆盖固定原文题库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通过后才进入配音合片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1813560"/>
            <a:ext cx="5516880" cy="25374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0" y="1813560"/>
            <a:ext cx="55168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4120" y="2004060"/>
            <a:ext cx="51206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② 成片评价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4120" y="2651760"/>
            <a:ext cx="5120640" cy="1546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最终视频 → 完整音轨 → Qwen3-ASR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每60秒识别一段；抽取4–24张画面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评价真实音轨转写 + 实际画面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" y="4648200"/>
            <a:ext cx="1103376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记录原文、材料、模型、题库及语言指纹；修改后旧结果失效。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936817"/>
                </a:solidFill>
                <a:latin typeface="Microsoft YaHei"/>
              </a:defRPr>
            </a:pPr>
            <a:r>
              <a:rPr>
                <a:ea typeface="Microsoft YaHei"/>
              </a:rPr>
              <a:t>抽帧不覆盖每个瞬间；ASR与评委可能出错。画面文字真实性仍依赖评委。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评价闭环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评分触发动作，异常回到人工复核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C · Q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737360"/>
            <a:ext cx="11033760" cy="39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5"/>
              </a:lnSpc>
              <a:spcAft>
                <a:spcPts val="0"/>
              </a:spcAft>
              <a:defRPr sz="185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讲稿 ≥80% → 配音合片；未达到则审核 / 修改 / 显式人工继续。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" y="2461260"/>
            <a:ext cx="3535680" cy="174498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760" y="2628900"/>
            <a:ext cx="320040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0"/>
              </a:lnSpc>
              <a:spcAft>
                <a:spcPts val="0"/>
              </a:spcAft>
              <a:defRPr sz="3479" b="1">
                <a:solidFill>
                  <a:srgbClr val="AA4439"/>
                </a:solidFill>
                <a:latin typeface="Microsoft YaHei"/>
              </a:defRPr>
            </a:pPr>
            <a:r>
              <a:rPr>
                <a:ea typeface="Microsoft YaHei"/>
              </a:rPr>
              <a:t>&lt;60%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60" y="3337560"/>
            <a:ext cx="320040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自动纠错重生成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3817620"/>
            <a:ext cx="3200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5"/>
              </a:lnSpc>
              <a:spcAft>
                <a:spcPts val="0"/>
              </a:spcAft>
              <a:defRPr sz="13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最多2次；新任务保留历史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640" y="2461260"/>
            <a:ext cx="3535680" cy="174498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28900"/>
            <a:ext cx="320040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0"/>
              </a:lnSpc>
              <a:spcAft>
                <a:spcPts val="0"/>
              </a:spcAft>
              <a:defRPr sz="3479" b="1">
                <a:solidFill>
                  <a:srgbClr val="936817"/>
                </a:solidFill>
                <a:latin typeface="Microsoft YaHei"/>
              </a:defRPr>
            </a:pPr>
            <a:r>
              <a:rPr>
                <a:ea typeface="Microsoft YaHei"/>
              </a:rPr>
              <a:t>60%–&lt;80%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37560"/>
            <a:ext cx="320040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人工决策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17620"/>
            <a:ext cx="3200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5"/>
              </a:lnSpc>
              <a:spcAft>
                <a:spcPts val="0"/>
              </a:spcAft>
              <a:defRPr sz="13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选择接受或重新生成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461260"/>
            <a:ext cx="3535680" cy="174498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5800" y="2628900"/>
            <a:ext cx="320040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0"/>
              </a:lnSpc>
              <a:spcAft>
                <a:spcPts val="0"/>
              </a:spcAft>
              <a:defRPr sz="347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≥80%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337560"/>
            <a:ext cx="320040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完成任务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817620"/>
            <a:ext cx="3200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5"/>
              </a:lnSpc>
              <a:spcAft>
                <a:spcPts val="0"/>
              </a:spcAft>
              <a:defRPr sz="13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教学结构门禁仍需通过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120" y="4518660"/>
            <a:ext cx="1103376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课堂判断：讲稿17/20，成片14/20，下一步应该怎么做？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异常 ≠ 0分：连接 / 识别失败时暂停。阈值是可调工程策略，非论文标准。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论文实验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论文结果：模型答得好，真人仍更偏好人工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684020"/>
            <a:ext cx="5715000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5"/>
              </a:lnSpc>
              <a:spcAft>
                <a:spcPts val="0"/>
              </a:spcAft>
              <a:defRPr sz="198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模型问答准确率 /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2385060"/>
            <a:ext cx="1143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细节题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5480" y="2385060"/>
            <a:ext cx="2390013" cy="274320"/>
          </a:xfrm>
          <a:prstGeom prst="rect">
            <a:avLst/>
          </a:prstGeom>
          <a:solidFill>
            <a:srgbClr val="718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87340" y="2354580"/>
            <a:ext cx="100584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718578"/>
                </a:solidFill>
                <a:latin typeface="Microsoft YaHei"/>
              </a:defRPr>
            </a:pPr>
            <a:r>
              <a:rPr>
                <a:ea typeface="Microsoft YaHei"/>
              </a:rPr>
              <a:t>73.8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5480" y="2827020"/>
            <a:ext cx="2726817" cy="27432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7340" y="2796540"/>
            <a:ext cx="100584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84.2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" y="3665220"/>
            <a:ext cx="1143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理解题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5480" y="3665220"/>
            <a:ext cx="2940558" cy="274320"/>
          </a:xfrm>
          <a:prstGeom prst="rect">
            <a:avLst/>
          </a:prstGeom>
          <a:solidFill>
            <a:srgbClr val="718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7340" y="3634740"/>
            <a:ext cx="100584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718578"/>
                </a:solidFill>
                <a:latin typeface="Microsoft YaHei"/>
              </a:defRPr>
            </a:pPr>
            <a:r>
              <a:rPr>
                <a:ea typeface="Microsoft YaHei"/>
              </a:rPr>
              <a:t>90.8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5480" y="4107179"/>
            <a:ext cx="3079813" cy="27432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7340" y="4076699"/>
            <a:ext cx="100584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Aft>
                <a:spcPts val="0"/>
              </a:spcAft>
              <a:defRPr sz="180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95.1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" y="5090160"/>
            <a:ext cx="558546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75"/>
              </a:lnSpc>
              <a:spcAft>
                <a:spcPts val="0"/>
              </a:spcAft>
              <a:defRPr sz="150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灰：真人视频    绿：PaperTalker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600" y="1790700"/>
            <a:ext cx="15240" cy="342138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5660" y="1691640"/>
            <a:ext cx="42672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5"/>
              </a:lnSpc>
              <a:spcAft>
                <a:spcPts val="0"/>
              </a:spcAft>
              <a:defRPr sz="198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人工偏好 / 1–5分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5660" y="2484120"/>
            <a:ext cx="4267200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25"/>
              </a:lnSpc>
              <a:spcAft>
                <a:spcPts val="0"/>
              </a:spcAft>
              <a:defRPr sz="4019" b="1">
                <a:solidFill>
                  <a:srgbClr val="7B8F80"/>
                </a:solidFill>
                <a:latin typeface="Microsoft YaHei"/>
              </a:defRPr>
            </a:pPr>
            <a:r>
              <a:rPr>
                <a:ea typeface="Microsoft YaHei"/>
              </a:rPr>
              <a:t>4.6  真人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5660" y="3467100"/>
            <a:ext cx="4267200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Aft>
                <a:spcPts val="0"/>
              </a:spcAft>
              <a:defRPr sz="341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3.8  PaperTalker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5660" y="4541520"/>
            <a:ext cx="426720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75"/>
              </a:lnSpc>
              <a:spcAft>
                <a:spcPts val="0"/>
              </a:spcAft>
              <a:defRPr sz="150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抽取10篇论文，10名参与者</a:t>
            </a:r>
          </a:p>
          <a:p>
            <a:pPr>
              <a:lnSpc>
                <a:spcPts val="1875"/>
              </a:lnSpc>
              <a:spcAft>
                <a:spcPts val="0"/>
              </a:spcAft>
              <a:defRPr sz="150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论文表2与图6；不同于本项目实测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问答覆盖率和观看偏好测量不同维度；不能据此宣称学生学习效果提升。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项目证据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项目实测：技术跑通以后，仍要审教学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H · L ·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14 / 18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141220"/>
            <a:ext cx="6362700" cy="3581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9120" y="1798320"/>
            <a:ext cx="6964680" cy="32004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1180"/>
            <a:ext cx="67056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2026-10-08 历史样本 · 长字幕遮挡网络图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6220" y="1775460"/>
            <a:ext cx="3688080" cy="769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17页教材 → 12页课件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视频 25分24秒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6220" y="2766060"/>
            <a:ext cx="3688080" cy="1043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75"/>
              </a:lnSpc>
              <a:spcAft>
                <a:spcPts val="0"/>
              </a:spcAft>
              <a:defRPr sz="150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人工辅助恢复后解码通过</a:t>
            </a:r>
          </a:p>
          <a:p>
            <a:pPr>
              <a:lnSpc>
                <a:spcPts val="1875"/>
              </a:lnSpc>
              <a:spcAft>
                <a:spcPts val="0"/>
              </a:spcAft>
              <a:defRPr sz="150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教学交付历史评审约5/10</a:t>
            </a:r>
          </a:p>
          <a:p>
            <a:pPr>
              <a:lnSpc>
                <a:spcPts val="1875"/>
              </a:lnSpc>
              <a:spcAft>
                <a:spcPts val="0"/>
              </a:spcAft>
              <a:defRPr sz="150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存在裁切、遮挡与事实问题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6220" y="4190999"/>
            <a:ext cx="3688080" cy="1196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新版：流程已实现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问答16项离线回归通过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真实问答与学生效果待测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" y="5829300"/>
            <a:ext cx="1103376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  <a:defRPr sz="1320" b="0">
                <a:solidFill>
                  <a:srgbClr val="936817"/>
                </a:solidFill>
                <a:latin typeface="Microsoft YaHei"/>
              </a:defRPr>
            </a:pPr>
            <a:r>
              <a:rPr>
                <a:ea typeface="Microsoft YaHei"/>
              </a:rPr>
              <a:t>证据分开：历史成片暴露问题；新版本替身测试验证流程，不提供真实效果分数。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翻转课堂互动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课堂演示：配置、证据、决定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F · D ·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15 / 18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798320"/>
            <a:ext cx="6789420" cy="36042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9120" y="1874519"/>
            <a:ext cx="3810000" cy="792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1  看配置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2  查逐题证据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3032760"/>
            <a:ext cx="3810000" cy="792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3  判断是否重做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4  原文复核错题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" y="4251960"/>
            <a:ext cx="3810000" cy="95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同一素材与题库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只改变一个因素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比较分数、可读性和费用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936817"/>
                </a:solidFill>
                <a:latin typeface="Microsoft YaHei"/>
              </a:defRPr>
            </a:pPr>
            <a:r>
              <a:rPr>
                <a:ea typeface="Microsoft YaHei"/>
              </a:rPr>
              <a:t>右侧85% / 70%为离线模拟截图，只展示界面，不是项目真实评价成绩。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下一步：把自动评分接回真实学习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D ·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798320"/>
            <a:ext cx="11033760" cy="103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50"/>
              </a:lnSpc>
              <a:spcAft>
                <a:spcPts val="0"/>
              </a:spcAft>
              <a:defRPr sz="324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模型配置让过程可复现</a:t>
            </a:r>
          </a:p>
          <a:p>
            <a:pPr>
              <a:lnSpc>
                <a:spcPts val="4050"/>
              </a:lnSpc>
              <a:spcAft>
                <a:spcPts val="0"/>
              </a:spcAft>
              <a:defRPr sz="324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证据评价让结果可追溯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" y="3345180"/>
            <a:ext cx="3535680" cy="17907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9120" y="3345180"/>
            <a:ext cx="35356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35680"/>
            <a:ext cx="31394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01  真实跑一次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83380"/>
            <a:ext cx="313944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人工复核题库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运行新版问答与听审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640" y="3345180"/>
            <a:ext cx="3535680" cy="17907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8640" y="3345180"/>
            <a:ext cx="35356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6760" y="3535680"/>
            <a:ext cx="31394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02  做版本对照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760" y="4183380"/>
            <a:ext cx="313944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固定材料 / 题库 / 评委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每次只改一个因素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345180"/>
            <a:ext cx="3535680" cy="179070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3345180"/>
            <a:ext cx="3535680" cy="38100"/>
          </a:xfrm>
          <a:prstGeom prst="rect">
            <a:avLst/>
          </a:prstGeom>
          <a:solidFill>
            <a:srgbClr val="2D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6280" y="3535680"/>
            <a:ext cx="31394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0"/>
              </a:lnSpc>
              <a:spcAft>
                <a:spcPts val="0"/>
              </a:spcAft>
              <a:defRPr sz="2039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03  回到学习效果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280" y="4183380"/>
            <a:ext cx="313944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学生观看前后测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课中错题讨论与反馈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从“生成成功”走向“教学可信”，仍需要真实课堂数据。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答辩备用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备用：常见提问与回答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C · Q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1760220"/>
            <a:ext cx="3276600" cy="63246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1859280"/>
            <a:ext cx="303276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5720" y="1760220"/>
            <a:ext cx="7757159" cy="632460"/>
          </a:xfrm>
          <a:prstGeom prst="rect">
            <a:avLst/>
          </a:prstGeom>
          <a:solidFill>
            <a:srgbClr val="17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859280"/>
            <a:ext cx="751332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回答要点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" y="2392680"/>
            <a:ext cx="3276600" cy="632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" y="2484120"/>
            <a:ext cx="303276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为什么要多个模型？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5720" y="2392680"/>
            <a:ext cx="7757159" cy="632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2484120"/>
            <a:ext cx="751332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能力与接口不同；便于替换、追溯和定位故障。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9120" y="3025140"/>
            <a:ext cx="3276600" cy="6324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040" y="3116580"/>
            <a:ext cx="303276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80%的依据是什么？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55720" y="3025140"/>
            <a:ext cx="7757159" cy="6324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3116580"/>
            <a:ext cx="751332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可调的工程默认，尚未通过学生学习效果标定。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3657600"/>
            <a:ext cx="3276600" cy="632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040" y="3749039"/>
            <a:ext cx="303276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题库摘录存在就正确？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5720" y="3657600"/>
            <a:ext cx="7757159" cy="632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3749039"/>
            <a:ext cx="751332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只能验证出处存在；题意与答案仍需人工复核。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120" y="4290060"/>
            <a:ext cx="3276600" cy="6324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040" y="4381500"/>
            <a:ext cx="303276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高分等于视频无错误？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55720" y="4290060"/>
            <a:ext cx="7757159" cy="63246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4381500"/>
            <a:ext cx="751332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题库与抽帧有限；仍需事实审核、连续观看和听审。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9120" y="4922520"/>
            <a:ext cx="3276600" cy="632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040" y="5013960"/>
            <a:ext cx="303276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IP Memory是学习记忆？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55720" y="4922520"/>
            <a:ext cx="7757159" cy="632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39" y="5013960"/>
            <a:ext cx="751332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Aft>
                <a:spcPts val="0"/>
              </a:spcAft>
              <a:defRPr sz="162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论文做肖像—短片—问题关联，不是隔天测验。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120" y="5753100"/>
            <a:ext cx="1103376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5"/>
              </a:lnSpc>
              <a:spcAft>
                <a:spcPts val="0"/>
              </a:spcAft>
              <a:defRPr sz="13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本页为答辩备用，不计入15分钟。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342900"/>
            <a:ext cx="1097280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PAPER2VIDEO  /  证据索引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815340"/>
            <a:ext cx="11049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5"/>
              </a:lnSpc>
              <a:spcAft>
                <a:spcPts val="0"/>
              </a:spcAft>
              <a:defRPr sz="3060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备用：来源与复现入口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" y="6187440"/>
            <a:ext cx="11033760" cy="15240"/>
          </a:xfrm>
          <a:prstGeom prst="rect">
            <a:avLst/>
          </a:prstGeom>
          <a:solidFill>
            <a:srgbClr val="C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6355080"/>
            <a:ext cx="9829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8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论文 × 项目实践  |  2026.10.11  |  来源 P · C · F · R · Q · D · H · L ·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24600"/>
            <a:ext cx="838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5"/>
              </a:lnSpc>
              <a:spcAft>
                <a:spcPts val="0"/>
              </a:spcAft>
              <a:defRPr sz="1260" b="0">
                <a:solidFill>
                  <a:srgbClr val="536860"/>
                </a:solidFill>
                <a:latin typeface="Microsoft YaHei"/>
              </a:defRPr>
            </a:pPr>
            <a:r>
              <a:rPr>
                <a:ea typeface="Microsoft YaHe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744980"/>
            <a:ext cx="11033760" cy="792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5"/>
              </a:lnSpc>
              <a:spcAft>
                <a:spcPts val="0"/>
              </a:spcAft>
              <a:defRPr sz="17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论文：Paper2Video: Automatic Video Generation from Scientific Papers</a:t>
            </a:r>
          </a:p>
          <a:p>
            <a:pPr>
              <a:lnSpc>
                <a:spcPts val="2175"/>
              </a:lnSpc>
              <a:spcAft>
                <a:spcPts val="0"/>
              </a:spcAft>
              <a:defRPr sz="1739" b="1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Zhu / Lin / Shou · arXiv:2510.05096v2 · 2025-10-09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2743200"/>
            <a:ext cx="5334000" cy="1699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P  论文§3.3 / §4 / §5 / 附录A.1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C / F / R  配置、默认值与角色执行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Q / D  问答实现与流程说明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4620" y="2743200"/>
            <a:ext cx="5052060" cy="1699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H  第二章历史实测报告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L  P1 / P2修复与离线验收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173A32"/>
                </a:solidFill>
                <a:latin typeface="Microsoft YaHei"/>
              </a:defRPr>
            </a:pPr>
            <a:r>
              <a:rPr>
                <a:ea typeface="Microsoft YaHei"/>
              </a:rPr>
              <a:t>V  10月11日最新评价验收日志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" y="4716780"/>
            <a:ext cx="1103376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完整相对路径、文件SHA256与逐页引用，见配套讲稿与 sources.json。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" y="5516880"/>
            <a:ext cx="11033760" cy="472440"/>
          </a:xfrm>
          <a:prstGeom prst="rect">
            <a:avLst/>
          </a:prstGeom>
          <a:solidFill>
            <a:srgbClr val="E5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93080"/>
            <a:ext cx="10728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2D6B56"/>
                </a:solidFill>
                <a:latin typeface="Microsoft YaHei"/>
              </a:defRPr>
            </a:pPr>
            <a:r>
              <a:rPr>
                <a:ea typeface="Microsoft YaHei"/>
              </a:rPr>
              <a:t>论文页码按PDF显示页码；主要实验数据见第8页表2与图6。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Paper2Video_翻转课堂_模型配置与评估_15分钟</dc:title>
  <dc:subject>基于论文与当前项目的翻转课堂展示；重点为模型配置与评价</dc:subject>
  <dc:creator>Paper2Video 项目展示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