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jpg" ContentType="image/jpeg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charts/chart1.xml" ContentType="application/vnd.openxmlformats-officedocument.drawingml.chart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slides/charts/chart3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jp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chart" Target="charts/chart3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2.png" /><Relationship Id="rId1" Type="http://schemas.openxmlformats.org/officeDocument/2006/relationships/image" Target="media/image10.png" /><Relationship Id="rId2" Type="http://schemas.openxmlformats.org/officeDocument/2006/relationships/image" Target="media/image11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2" Type="http://schemas.openxmlformats.org/officeDocument/2006/relationships/image" Target="media/image3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E3F8C"/>
                </a:solidFill>
              </a:defRPr>
            </a:pPr>
            <a:r>
              <a:rPr sz="1350">
                <a:solidFill>
                  <a:srgbClr val="0E3F8C"/>
                </a:solidFill>
              </a:rPr>
              <a:t>各阶段真实耗时（分钟）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E3F8C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耗时（分钟）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7"/>
                <c:pt idx="0">
                  <c:v>数字人生成</c:v>
                </c:pt>
                <c:pt idx="1">
                  <c:v>语音合成</c:v>
                </c:pt>
                <c:pt idx="2">
                  <c:v>光标定位</c:v>
                </c:pt>
                <c:pt idx="3">
                  <c:v>合成视频</c:v>
                </c:pt>
                <c:pt idx="4">
                  <c:v>结构化正文</c:v>
                </c:pt>
                <c:pt idx="5">
                  <c:v>生成幻灯片</c:v>
                </c:pt>
                <c:pt idx="6">
                  <c:v>生成讲稿与光标描述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10.2</c:v>
                </c:pt>
                <c:pt idx="1">
                  <c:v>7.6</c:v>
                </c:pt>
                <c:pt idx="2">
                  <c:v>3.8</c:v>
                </c:pt>
                <c:pt idx="3">
                  <c:v>1.7</c:v>
                </c:pt>
                <c:pt idx="4">
                  <c:v>1.4</c:v>
                </c:pt>
                <c:pt idx="5">
                  <c:v>1.3</c:v>
                </c:pt>
                <c:pt idx="6">
                  <c:v>1.1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b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noFill/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E3F8C"/>
                </a:solidFill>
              </a:defRPr>
            </a:pPr>
            <a:r>
              <a:rPr sz="1350">
                <a:solidFill>
                  <a:srgbClr val="0E3F8C"/>
                </a:solidFill>
              </a:rPr>
              <a:t>显存规模对比（GB）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E3F8C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显存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2"/>
                <c:pt idx="0">
                  <c:v>论文 8×A6000 合计</c:v>
                </c:pt>
                <c:pt idx="1">
                  <c:v>本机单卡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384</c:v>
                </c:pt>
                <c:pt idx="1">
                  <c:v>16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b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noFill/>
        <a:ln>
          <a:noFill/>
        </a:ln>
        <a:effectLst/>
      </c:spPr>
    </c:plotArea>
    <c:dispBlanksAs val="gap"/>
  </c:chart>
</c:chartSpace>
</file>

<file path=ppt/slides/charts/chart3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E3F8C"/>
                </a:solidFill>
              </a:defRPr>
            </a:pPr>
            <a:r>
              <a:rPr sz="1350">
                <a:solidFill>
                  <a:srgbClr val="0E3F8C"/>
                </a:solidFill>
              </a:rPr>
              <a:t>三个真实样本的 token 构成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E3F8C"/>
              </a:solidFill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幻灯片桶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英文论文 · 无返工</c:v>
                </c:pt>
                <c:pt idx="1">
                  <c:v>中文论文 · 1 次返工</c:v>
                </c:pt>
                <c:pt idx="2">
                  <c:v>中文论文 · 多次返工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13265</c:v>
                </c:pt>
                <c:pt idx="1">
                  <c:v>38391</c:v>
                </c:pt>
                <c:pt idx="2">
                  <c:v>68409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讲稿桶</c:v>
                </c:pt>
              </c:strCache>
            </c:strRef>
          </c:tx>
          <c:spPr>
            <a:solidFill>
              <a:srgbClr val="85B7EB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英文论文 · 无返工</c:v>
                </c:pt>
                <c:pt idx="1">
                  <c:v>中文论文 · 1 次返工</c:v>
                </c:pt>
                <c:pt idx="2">
                  <c:v>中文论文 · 多次返工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42343</c:v>
                </c:pt>
                <c:pt idx="1">
                  <c:v>31569</c:v>
                </c:pt>
                <c:pt idx="2">
                  <c:v>40241</c:v>
                </c:pt>
              </c:numCache>
            </c:numRef>
          </c:val>
        </c:ser>
        <c:gapWidth val="219"/>
        <c:overlap val="100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4A5568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display: 'flex', flexDirection: 'column', background: '#0E3F8C', fontFamily: &quot;'Microsoft YaHei', 'PingFang SC', 'Noto Sans CJK SC', sans-serif&quot;, padding: 0 }}&gt;&#10;    &lt;Box style={{ height: 6, background: '#3D7BD9' }} /&gt;&#10;&#10;    &lt;Box style={{ flex: 1, flexDirection: 'column', padding: '52px 64px 0 64px', gap: 18 }}&gt;&#10;        &lt;Box style={{ flexDirection: 'row', alignItems: 'center', gap: 14 }}&gt;&#10;            &lt;Box style={{ width: 46, height: 3, background: '#3D7BD9' }} /&gt;&#10;            &lt;Text style={{ fontSize: 17, color: '#8FB6E8', letterSpacing: 3 }}&gt;课程项目汇报 · 2026&lt;/Text&gt;&#10;        &lt;/Box&gt;&#10;&#10;        &lt;Text style={{ fontSize: 58, fontWeight: 'bold', color: '#FFFFFF', lineHeight: 1.22 }}&gt;&#10;            把一篇论文，&lt;br /&gt;变成一段会讲课的视频&#10;        &lt;/Text&gt;&#10;&#10;        &lt;Text style={{ fontSize: 24, color: '#B5D4F4', fontFamily: &quot;'Times New Roman', Times, serif&quot;, letterSpacing: 0.5 }}&gt;&#10;            Automatic Video Generation from Scientific Papers&#10;        &lt;/Text&gt;&#10;&#10;        &lt;Text style={{ fontSize: 20, color: '#7FA9DE' }}&gt;&#10;            基于 Paper2Video 的国产化替换与工程化改造 · 单卡 RTX 5070 Ti 16GB&#10;        &lt;/Text&gt;&#10;&#10;        &lt;Box style={{ width: 1152, height: 226, background: '#FFFFFF', borderRadius: 4, marginTop: 8 }}&gt;&#10;            &lt;Image src='assets/paper_teaser.png' style={{ width: 1152, height: 226, objectFit: 'contain' }} /&gt;&#10;        &lt;/Box&gt;&#10;    &lt;/Box&gt;&#10;&#10;    &lt;Box style={{ height: 86, padding: '0 64px', flexDirection: 'row', alignItems: 'center', justifyContent: 'space-between' }}&gt;&#10;        &lt;Text style={{ fontSize: 16, color: '#8FB6E8' }}&gt;姓名：＿＿＿＿　　学号：＿＿＿＿　　指导教师：＿＿＿＿　　日期：＿＿＿＿&lt;/Text&gt;&#10;        &lt;Text style={{ fontSize: 15, color: '#5C86BE' }}&gt;图：论文 Fig.1（showlab/Paper2Video）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09600" y="638175"/>
            <a:ext cx="43815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181100" y="5524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225">
                <a:solidFill>
                  <a:srgbClr val="8FB6E8"/>
                </a:solidFill>
                <a:latin typeface="Microsoft YaHei"/>
                <a:ea typeface="Microsoft YaHei"/>
              </a:rPr>
              <a:t>课程项目汇报</a:t>
            </a:r>
            <a:r>
              <a:rPr lang="en-US" sz="1275" spc="225">
                <a:solidFill>
                  <a:srgbClr val="8FB6E8"/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923925"/>
            <a:ext cx="10972800" cy="161925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把一篇论文，</a:t>
            </a:r>
            <a:endParaRPr/>
          </a:p>
          <a:p>
            <a:pPr>
              <a:lnSpc>
                <a:spcPct val="122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变成一段会讲课的视频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38">
                <a:solidFill>
                  <a:srgbClr val="B5D4F4"/>
                </a:solidFill>
                <a:latin typeface="Times New Roman"/>
                <a:ea typeface="Times New Roman"/>
              </a:rPr>
              <a:t>Automatic Video Generation from Scientific Papers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7FA9DE"/>
                </a:solidFill>
                <a:latin typeface="Microsoft YaHei"/>
                <a:ea typeface="Microsoft YaHei"/>
              </a:rPr>
              <a:t>基于</a:t>
            </a:r>
            <a:r>
              <a:rPr lang="en-US" sz="1500">
                <a:solidFill>
                  <a:srgbClr val="7FA9DE"/>
                </a:solidFill>
                <a:latin typeface="Microsoft YaHei"/>
                <a:ea typeface="Microsoft YaHei"/>
              </a:rPr>
              <a:t> Paper2Video </a:t>
            </a:r>
            <a:r>
              <a:rPr lang="zh-CN" sz="1500">
                <a:solidFill>
                  <a:srgbClr val="7FA9DE"/>
                </a:solidFill>
                <a:latin typeface="Microsoft YaHei"/>
                <a:ea typeface="Microsoft YaHei"/>
              </a:rPr>
              <a:t>的国产化替换与工程化改造</a:t>
            </a:r>
            <a:r>
              <a:rPr lang="en-US" sz="1500">
                <a:solidFill>
                  <a:srgbClr val="7FA9DE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7FA9DE"/>
                </a:solidFill>
                <a:latin typeface="Microsoft YaHei"/>
                <a:ea typeface="Microsoft YaHei"/>
              </a:rPr>
              <a:t>单卡</a:t>
            </a:r>
            <a:r>
              <a:rPr lang="en-US" sz="1500">
                <a:solidFill>
                  <a:srgbClr val="7FA9DE"/>
                </a:solidFill>
                <a:latin typeface="Microsoft YaHei"/>
                <a:ea typeface="Microsoft YaHei"/>
              </a:rPr>
              <a:t> RTX 5070 Ti 16GB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638550"/>
            <a:ext cx="10972800" cy="215265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1"/>
          <a:srcRect l="54" t="0" r="54" b="0"/>
          <a:stretch>
            <a:fillRect/>
          </a:stretch>
        </p:blipFill>
        <p:spPr>
          <a:xfrm rot="0" flipH="0" flipV="0">
            <a:off x="609600" y="3638550"/>
            <a:ext cx="10972800" cy="2152650"/>
          </a:xfrm>
          <a:prstGeom prst="rect">
            <a:avLst/>
          </a:prstGeom>
          <a:ln/>
        </p:spPr>
      </p:pic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B6E8"/>
                </a:solidFill>
                <a:latin typeface="Microsoft YaHei"/>
                <a:ea typeface="Microsoft YaHei"/>
              </a:rPr>
              <a:t>姓名：＿＿＿＿　　学号：＿＿＿＿　　指导教师：＿＿＿＿　　日期：＿＿＿＿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858250" y="6362700"/>
            <a:ext cx="272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86BE"/>
                </a:solidFill>
                <a:latin typeface="Microsoft YaHei"/>
                <a:ea typeface="Microsoft YaHei"/>
              </a:rPr>
              <a:t>图：论文</a:t>
            </a:r>
            <a:r>
              <a:rPr lang="en-US" sz="1125">
                <a:solidFill>
                  <a:srgbClr val="5C86BE"/>
                </a:solidFill>
                <a:latin typeface="Microsoft YaHei"/>
                <a:ea typeface="Microsoft YaHei"/>
              </a:rPr>
              <a:t> Fig.1</a:t>
            </a:r>
            <a:r>
              <a:rPr lang="zh-CN" sz="1125">
                <a:solidFill>
                  <a:srgbClr val="5C86BE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5C86BE"/>
                </a:solidFill>
                <a:latin typeface="Microsoft YaHei"/>
                <a:ea typeface="Microsoft YaHei"/>
              </a:rPr>
              <a:t>showlab/Paper2Video</a:t>
            </a:r>
            <a:r>
              <a:rPr lang="zh-CN" sz="1125">
                <a:solidFill>
                  <a:srgbClr val="5C86BE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89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背景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这件事难在哪&lt;/Text&gt;&#10;            &lt;Text style={{ fontSize: 17, color: '#8B97A8', marginLeft: 6 }}&gt;学术会议要求作者交 2 到 10 分钟的演讲视频，手工做一条要几个小时&lt;/Text&gt;&#10;        &lt;/Box&gt;&#10;&#10;        &lt;Box style={{ height: 412, flexDirection: 'row', gap: 28 }}&gt;&#10;            &lt;Box style={{ width: 688, height: 412, flexDirection: 'column', gap: 10 }}&gt;&#10;                &lt;Box style={{ width: 688, height: 378, background: '#F7F9FC', border: '1px solid #D6DCE5', borderRadius: 6, padding: 8 }}&gt;&#10;                    &lt;Image src='assets/paper_method.png' style={{ width: 672, height: 362, objectFit: 'contain' }} /&gt;&#10;                &lt;/Box&gt;&#10;                &lt;Text style={{ fontSize: 14, color: '#8B97A8' }}&gt;论文 PaperTalker 的方法总览：四个 builder 串成一条链（截自论文原图）&lt;/Text&gt;&#10;            &lt;/Box&gt;&#10;&#10;            &lt;Box style={{ width: 444, height: 412, flexDirection: 'column', gap: 10 }}&gt;&#10;                &lt;Text style={{ fontSize: 24, fontWeight: 'bold', color: '#1E4FA8' }}&gt;四件事必须同时对&lt;/Text&gt;&#10;&#10;                &lt;Box style={{ flexDirection: 'row', gap: 12, alignItems: 'flex-start' }}&gt;&#10;                    &lt;Box style={{ width: 28, height: 28, background: '#1E4FA8', borderRadius: 4, alignItems: 'center', justifyContent: 'center' }}&gt;&#10;                        &lt;Text style={{ fontSize: 15, fontWeight: 'bold', color: '#FFFFFF' }}&gt;1&lt;/Text&gt;&#10;                    &lt;/Box&gt;&#10;                    &lt;Box style={{ flex: 1, flexDirection: 'column', gap: 2 }}&gt;&#10;                        &lt;Text style={{ fontSize: 19, fontWeight: 'bold', color: '#1A2230' }}&gt;幻灯片&lt;/Text&gt;&#10;                        &lt;Text style={{ fontSize: 15, color: '#4A5568', lineHeight: 1.4 }}&gt;要有能看的图表和标题，不是把正文搬上去&lt;/Text&gt;&#10;                    &lt;/Box&gt;&#10;                &lt;/Box&gt;&#10;&#10;                &lt;Box style={{ flexDirection: 'row', gap: 12, alignItems: 'flex-start' }}&gt;&#10;                    &lt;Box style={{ width: 28, height: 28, background: '#1E4FA8', borderRadius: 4, alignItems: 'center', justifyContent: 'center' }}&gt;&#10;                        &lt;Text style={{ fontSize: 15, fontWeight: 'bold', color: '#FFFFFF' }}&gt;2&lt;/Text&gt;&#10;                    &lt;/Box&gt;&#10;                    &lt;Box style={{ flex: 1, flexDirection: 'column', gap: 2 }}&gt;&#10;                        &lt;Text style={{ fontSize: 19, fontWeight: 'bold', color: '#1A2230' }}&gt;字幕&lt;/Text&gt;&#10;                        &lt;Text style={{ fontSize: 15, color: '#4A5568', lineHeight: 1.4 }}&gt;每一句都要跟当前这张幻灯片对得上&lt;/Text&gt;&#10;                    &lt;/Box&gt;&#10;                &lt;/Box&gt;&#10;&#10;                &lt;Box style={{ flexDirection: 'row', gap: 12, alignItems: 'flex-start' }}&gt;&#10;                    &lt;Box style={{ width: 28, height: 28, background: '#1E4FA8', borderRadius: 4, alignItems: 'center', justifyContent: 'center' }}&gt;&#10;                        &lt;Text style={{ fontSize: 15, fontWeight: 'bold', color: '#FFFFFF' }}&gt;3&lt;/Text&gt;&#10;                    &lt;/Box&gt;&#10;                    &lt;Box style={{ flex: 1, flexDirection: 'column', gap: 2 }}&gt;&#10;                        &lt;Text style={{ fontSize: 19, fontWeight: 'bold', color: '#1A2230' }}&gt;光标&lt;/Text&gt;&#10;                        &lt;Text style={{ fontSize: 15, color: '#4A5568', lineHeight: 1.4 }}&gt;跟着正在讲的那句话，指向画面里正确的位置&lt;/Text&gt;&#10;                    &lt;/Box&gt;&#10;                &lt;/Box&gt;&#10;&#10;                &lt;Box style={{ flexDirection: 'row', gap: 12, alignItems: 'flex-start' }}&gt;&#10;                    &lt;Box style={{ width: 28, height: 28, background: '#1E4FA8', borderRadius: 4, alignItems: 'center', justifyContent: 'center' }}&gt;&#10;                        &lt;Text style={{ fontSize: 15, fontWeight: 'bold', color: '#FFFFFF' }}&gt;4&lt;/Text&gt;&#10;                    &lt;/Box&gt;&#10;                    &lt;Box style={{ flex: 1, flexDirection: 'column', gap: 2 }}&gt;&#10;                        &lt;Text style={{ fontSize: 19, fontWeight: 'bold', color: '#1A2230' }}&gt;数字人&lt;/Text&gt;&#10;                        &lt;Text style={{ fontSize: 15, color: '#4A5568', lineHeight: 1.4 }}&gt;用作者的头像和声音讲，口型还得对&lt;/Text&gt;&#10;                    &lt;/Box&gt;&#10;                &lt;/Box&gt;&#10;&#10;                &lt;Box style={{ flex: 1, background: '#E8EFF8', borderLeft: '4px solid #1E4FA8', borderRadius: 4, padding: '12px 16px', justifyContent: 'center' }}&gt;&#10;                    &lt;Text style={{ fontSize: 17, color: '#1A2230', lineHeight: 1.5 }}&gt;难的不是&quot;生成一段视频&quot;，是让这四个通道互相对齐。论文的实测里，端到端模型只能出 8 秒，文字还是糊的。&lt;/Text&gt;&#10;                &lt;/Box&gt;&#10;            &lt;/Box&gt;&#10;        &lt;/Box&gt;&#10;&#10;        &lt;Box style={{ height: 64, background: '#0E3F8C', borderRadius: 6, padding: '0 22px', flexDirection: 'row', alignItems: 'center', gap: 16 }}&gt;&#10;            &lt;Text style={{ fontSize: 15, fontWeight: 'bold', color: '#8FB6E8' }}&gt;论文给的答案&lt;/Text&gt;&#10;            &lt;Text style={{ fontSize: 19, color: '#FFFFFF' }}&gt;PaperTalker 四个 builder + 101 篇论文的评测基准，四项指标衡量&quot;讲得怎么样&quot;&lt;/Text&gt;&#10;        &lt;/Box&gt;&#10;    &lt;/Box&gt;&#10;&#10;    &lt;Box style={{ height: 48, padding: '0 40px', flexDirection: 'row', alignItems: 'center', justifyContent: 'space-between' }}&gt;&#10;        &lt;Text style={{ fontSize: 14, color: '#8B97A8' }}&gt;论文：arXiv 2510.05096v2（Show Lab, NUS）&lt;/Text&gt;&#10;        &lt;Text style={{ fontSize: 16, fontWeight: 'bold', color: '#0E3F8C' }}&gt;02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468100" y="2476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背景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这件事难在哪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2847975" y="1028700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学术会议要求作者交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到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10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分钟的演讲视频，手工做一条要几个小时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381000" y="1485900"/>
            <a:ext cx="6553200" cy="3600450"/>
          </a:xfrm>
          <a:prstGeom prst="roundRect">
            <a:avLst>
              <a:gd name="adj" fmla="val 15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98" name=""/>
          <p:cNvPicPr>
            <a:picLocks noChangeAspect="1"/>
          </p:cNvPicPr>
          <p:nvPr/>
        </p:nvPicPr>
        <p:blipFill>
          <a:blip r:embed="rId1"/>
          <a:srcRect l="0" t="2739" r="0" b="2739"/>
          <a:stretch>
            <a:fillRect/>
          </a:stretch>
        </p:blipFill>
        <p:spPr>
          <a:xfrm rot="0" flipH="0" flipV="0">
            <a:off x="457200" y="1562100"/>
            <a:ext cx="6400800" cy="3448050"/>
          </a:xfrm>
          <a:prstGeom prst="rect">
            <a:avLst/>
          </a:prstGeom>
          <a:ln/>
        </p:spPr>
      </p:pic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81000" y="5181600"/>
            <a:ext cx="655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论文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PaperTalker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的方法总览：四个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builder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串成一条链（截自论文原图）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200900" y="1485900"/>
            <a:ext cx="422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四件事必须同时对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7200900" y="1857375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286625" y="1905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581900" y="1857375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幻灯片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581900" y="2095500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要有能看的图表和标题，不是把正文搬上去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200900" y="24384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286625" y="24860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581900" y="2438400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字幕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581900" y="267652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每一句都要跟当前这张幻灯片对得上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200900" y="3019425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286625" y="30670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581900" y="3019425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光标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581900" y="3257550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跟着正在讲的那句话，指向画面里正确的位置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200900" y="360045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286625" y="36480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581900" y="3600450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数字人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81900" y="383857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用作者的头像和声音讲，口型还得对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239000" y="4181475"/>
            <a:ext cx="4229100" cy="1228725"/>
          </a:xfrm>
          <a:prstGeom prst="roundRect">
            <a:avLst>
              <a:gd name="adj" fmla="val 310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239000" y="4181475"/>
            <a:ext cx="4229100" cy="1228725"/>
          </a:xfrm>
          <a:custGeom>
            <a:pathLst>
              <a:path w="444" h="129">
                <a:moveTo>
                  <a:pt x="4" y="129"/>
                </a:moveTo>
                <a:cubicBezTo>
                  <a:pt x="2" y="129"/>
                  <a:pt x="0" y="127"/>
                  <a:pt x="0" y="12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9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391400" y="4362450"/>
            <a:ext cx="38862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难的不是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生成一段视频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，是让这四个通道互相对齐。论文的实测里，端到端模型只能出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8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秒，文字还是糊的。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81000" y="5562600"/>
            <a:ext cx="11430000" cy="609600"/>
          </a:xfrm>
          <a:prstGeom prst="roundRect">
            <a:avLst>
              <a:gd name="adj" fmla="val 937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90550" y="57816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6E8"/>
                </a:solidFill>
                <a:latin typeface="Microsoft YaHei"/>
                <a:ea typeface="Microsoft YaHei"/>
              </a:rPr>
              <a:t>论文给的答案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600200" y="5762625"/>
            <a:ext cx="6467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PaperTalker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四个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builder + 101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篇论文的评测基准，四项指标衡量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讲得怎么样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论文：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arXiv 2510.05096v2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Show Lab, NUS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225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目标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三个约束，把方案钉死了&lt;/Text&gt;&#10;            &lt;Text style={{ fontSize: 17, color: '#8B97A8', marginLeft: 6 }}&gt;论文跑在 8 张 A6000 上，我只有一张消费级卡&lt;/Text&gt;&#10;        &lt;/Box&gt;&#10;&#10;        &lt;Box style={{ height: 492, flexDirection: 'row', gap: 24 }}&gt;&#10;            &lt;Box style={{ width: 400, height: 492, background: '#0E3F8C', borderRadius: 8, padding: '34px 30px', flexDirection: 'column', justifyContent: 'space-between' }}&gt;&#10;                &lt;Box style={{ flexDirection: 'column', gap: 10 }}&gt;&#10;                    &lt;Text style={{ fontSize: 16, color: '#8FB6E8', letterSpacing: 3 }}&gt;我手上的卡&lt;/Text&gt;&#10;                    &lt;Text style={{ fontSize: 104, fontWeight: 'bold', color: '#FFFFFF', lineHeight: 1.05 }}&gt;16GB&lt;/Text&gt;&#10;                    &lt;Text style={{ fontSize: 18, color: '#B5D4F4', lineHeight: 1.5 }}&gt;RTX 5070 Ti 单卡&lt;br /&gt;Blackwell 架构（sm_120）&lt;/Text&gt;&#10;                &lt;/Box&gt;&#10;&#10;                &lt;Box style={{ flexDirection: 'column', gap: 8 }}&gt;&#10;                    &lt;Box style={{ height: 1, background: '#3D7BD9' }} /&gt;&#10;                    &lt;Text style={{ fontSize: 16, color: '#8FB6E8', lineHeight: 1.6 }}&gt;论文的配置：8 × A6000 48GB&lt;br /&gt;单卡 48GB，合计 384GB&lt;/Text&gt;&#10;                    &lt;Text style={{ fontSize: 19, fontWeight: 'bold', color: '#FFC107' }}&gt;差了 24 倍&lt;/Text&gt;&#10;                &lt;/Box&gt;&#10;            &lt;/Box&gt;&#10;&#10;            &lt;Box style={{ width: 776, height: 492, flexDirection: 'column', gap: 12 }}&gt;&#10;                &lt;Text style={{ fontSize: 18, color: '#1A2230', lineHeight: 1.5 }}&gt;我给自己定了三个目标，后面每一个技术选择都是它们逼出来的：先能在单卡上跑通，模型全部换成国产开源，许可证必须干净到能交付。&lt;/Text&gt;&#10;&#10;                &lt;Box style={{ height: 188, background: '#F7F9FC', border: '1px solid #D6DCE5', borderRadius: 6, padding: '8px 12px' }}&gt;&#10;                    &lt;Chart&#10;                        style={{ width: '100%', height: 172 }}&#10;                        chartType='barChart'&#10;                        barDirection='bar'&#10;                        title='显存规模对比（GB）'&#10;                        titleColor='#0E3F8C'&#10;                        showLegend={false}&#10;                        showDataLabels={true}&#10;                        axisColor='#8B97A8'&#10;                        dataLabelColor='#1A2230'&#10;                        colors={['#1E4FA8']}&#10;                        data={[&#10;                            ['配置', '显存'],&#10;                            ['论文 8×A6000 合计', 384],&#10;                            ['本机单卡', 16],&#10;                        ]}&#10;                    /&gt;&#10;                &lt;/Box&gt;&#10;&#10;                &lt;Box style={{ height: 60, flexDirection: 'row', gap: 12, alignItems: 'flex-start' }}&gt;&#10;                    &lt;Box style={{ width: 5, height: 40, background: '#D9534F', borderRadius: 2, marginTop: 4 }} /&gt;&#10;                    &lt;Box style={{ flex: 1, flexDirection: 'column', gap: 2 }}&gt;&#10;                        &lt;Text style={{ fontSize: 18, fontWeight: 'bold', color: '#1A2230' }}&gt;显存 16GB，而且架构很新&lt;/Text&gt;&#10;                        &lt;Text style={{ fontSize: 15, color: '#4A5568', lineHeight: 1.4 }}&gt;预编译好的算子经常用不了，现场编译又容易失败——几个模型就是死在这一步&lt;/Text&gt;&#10;                    &lt;/Box&gt;&#10;                &lt;/Box&gt;&#10;&#10;                &lt;Box style={{ height: 60, flexDirection: 'row', gap: 12, alignItems: 'flex-start' }}&gt;&#10;                    &lt;Box style={{ width: 5, height: 40, background: '#1E4FA8', borderRadius: 2, marginTop: 4 }} /&gt;&#10;                    &lt;Box style={{ flex: 1, flexDirection: 'column', gap: 2 }}&gt;&#10;                        &lt;Text style={{ fontSize: 18, fontWeight: 'bold', color: '#1A2230' }}&gt;许可证要能交付&lt;/Text&gt;&#10;                        &lt;Text style={{ fontSize: 15, color: '#4A5568', lineHeight: 1.4 }}&gt;论文原方案里的语音模型是 CC-BY-NC，非商用——这类一律不碰&lt;/Text&gt;&#10;                    &lt;/Box&gt;&#10;                &lt;/Box&gt;&#10;&#10;                &lt;Box style={{ height: 60, flexDirection: 'row', gap: 12, alignItems: 'flex-start' }}&gt;&#10;                    &lt;Box style={{ width: 5, height: 40, background: '#1E4FA8', borderRadius: 2, marginTop: 4 }} /&gt;&#10;                    &lt;Box style={{ flex: 1, flexDirection: 'column', gap: 2 }}&gt;&#10;                        &lt;Text style={{ fontSize: 18, fontWeight: 'bold', color: '#1A2230' }}&gt;&quot;能跑&quot;排在&quot;最好&quot;前面&lt;/Text&gt;&#10;                        &lt;Text style={{ fontSize: 15, color: '#4A5568', lineHeight: 1.4 }}&gt;效果榜上排第一但装不上的模型，对我等于零&lt;/Text&gt;&#10;                    &lt;/Box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A6000 显存与数量取自论文实验设置；本机为 RTX 5070 Ti 16GB&lt;/Text&gt;&#10;        &lt;Text style={{ fontSize: 16, fontWeight: 'bold', color: '#0E3F8C' }}&gt;03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468100" y="2476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三个约束，把方案钉死了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562475" y="1028700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论文跑在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8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张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A6000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上，我只有一张消费级卡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81000" y="1485900"/>
            <a:ext cx="3810000" cy="4686300"/>
          </a:xfrm>
          <a:prstGeom prst="roundRect">
            <a:avLst>
              <a:gd name="adj" fmla="val 2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66750" y="180975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8FB6E8"/>
                </a:solidFill>
                <a:latin typeface="Microsoft YaHei"/>
                <a:ea typeface="Microsoft YaHei"/>
              </a:rPr>
              <a:t>我手上的卡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66750" y="2095500"/>
            <a:ext cx="3238500" cy="12573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7800" b="1">
                <a:solidFill>
                  <a:srgbClr val="FFFFFF"/>
                </a:solidFill>
                <a:latin typeface="Microsoft YaHei"/>
                <a:ea typeface="Microsoft YaHei"/>
              </a:rPr>
              <a:t>16GB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66750" y="3448050"/>
            <a:ext cx="3238500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B5D4F4"/>
                </a:solidFill>
                <a:latin typeface="Microsoft YaHei"/>
                <a:ea typeface="Microsoft YaHei"/>
              </a:rPr>
              <a:t>RTX 5070 Ti </a:t>
            </a:r>
            <a:r>
              <a:rPr lang="zh-CN" sz="1350">
                <a:solidFill>
                  <a:srgbClr val="B5D4F4"/>
                </a:solidFill>
                <a:latin typeface="Microsoft YaHei"/>
                <a:ea typeface="Microsoft YaHei"/>
              </a:rPr>
              <a:t>单卡</a:t>
            </a:r>
            <a:endParaRPr/>
          </a:p>
          <a:p>
            <a:pPr>
              <a:lnSpc>
                <a:spcPct val="150000"/>
              </a:lnSpc>
            </a:pPr>
            <a:r>
              <a:rPr lang="en-US" sz="1350">
                <a:solidFill>
                  <a:srgbClr val="B5D4F4"/>
                </a:solidFill>
                <a:latin typeface="Microsoft YaHei"/>
                <a:ea typeface="Microsoft YaHei"/>
              </a:rPr>
              <a:t>Blackwell </a:t>
            </a:r>
            <a:r>
              <a:rPr lang="zh-CN" sz="1350">
                <a:solidFill>
                  <a:srgbClr val="B5D4F4"/>
                </a:solidFill>
                <a:latin typeface="Microsoft YaHei"/>
                <a:ea typeface="Microsoft YaHei"/>
              </a:rPr>
              <a:t>架构（</a:t>
            </a:r>
            <a:r>
              <a:rPr lang="en-US" sz="1350">
                <a:solidFill>
                  <a:srgbClr val="B5D4F4"/>
                </a:solidFill>
                <a:latin typeface="Microsoft YaHei"/>
                <a:ea typeface="Microsoft YaHei"/>
              </a:rPr>
              <a:t>sm_120</a:t>
            </a:r>
            <a:r>
              <a:rPr lang="zh-CN" sz="1350">
                <a:solidFill>
                  <a:srgbClr val="B5D4F4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66750" y="4876800"/>
            <a:ext cx="32385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66750" y="4962525"/>
            <a:ext cx="32385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FB6E8"/>
                </a:solidFill>
                <a:latin typeface="Microsoft YaHei"/>
                <a:ea typeface="Microsoft YaHei"/>
              </a:rPr>
              <a:t>论文的配置：</a:t>
            </a:r>
            <a:r>
              <a:rPr lang="en-US" sz="1200">
                <a:solidFill>
                  <a:srgbClr val="8FB6E8"/>
                </a:solidFill>
                <a:latin typeface="Microsoft YaHei"/>
                <a:ea typeface="Microsoft YaHei"/>
              </a:rPr>
              <a:t>8 × A6000 48GB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8FB6E8"/>
                </a:solidFill>
                <a:latin typeface="Microsoft YaHei"/>
                <a:ea typeface="Microsoft YaHei"/>
              </a:rPr>
              <a:t>单卡</a:t>
            </a:r>
            <a:r>
              <a:rPr lang="en-US" sz="1200">
                <a:solidFill>
                  <a:srgbClr val="8FB6E8"/>
                </a:solidFill>
                <a:latin typeface="Microsoft YaHei"/>
                <a:ea typeface="Microsoft YaHei"/>
              </a:rPr>
              <a:t> 48GB</a:t>
            </a:r>
            <a:r>
              <a:rPr lang="zh-CN" sz="1200">
                <a:solidFill>
                  <a:srgbClr val="8FB6E8"/>
                </a:solidFill>
                <a:latin typeface="Microsoft YaHei"/>
                <a:ea typeface="Microsoft YaHei"/>
              </a:rPr>
              <a:t>，合计</a:t>
            </a:r>
            <a:r>
              <a:rPr lang="en-US" sz="1200">
                <a:solidFill>
                  <a:srgbClr val="8FB6E8"/>
                </a:solidFill>
                <a:latin typeface="Microsoft YaHei"/>
                <a:ea typeface="Microsoft YaHei"/>
              </a:rPr>
              <a:t> 384GB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66750" y="5629275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C107"/>
                </a:solidFill>
                <a:latin typeface="Microsoft YaHei"/>
                <a:ea typeface="Microsoft YaHei"/>
              </a:rPr>
              <a:t>差了</a:t>
            </a:r>
            <a:r>
              <a:rPr lang="en-US" sz="1425" b="1">
                <a:solidFill>
                  <a:srgbClr val="FFC107"/>
                </a:solidFill>
                <a:latin typeface="Microsoft YaHei"/>
                <a:ea typeface="Microsoft YaHei"/>
              </a:rPr>
              <a:t> 24 </a:t>
            </a:r>
            <a:r>
              <a:rPr lang="zh-CN" sz="1425" b="1">
                <a:solidFill>
                  <a:srgbClr val="FFC107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419600" y="1485900"/>
            <a:ext cx="7391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我给自己定了三个目标，后面每一个技术选择都是它们逼出来的：先能在单卡上跑通，模型全部换成国产开源，许可证必须干净到能交付。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419600" y="2219325"/>
            <a:ext cx="7391400" cy="1790700"/>
          </a:xfrm>
          <a:prstGeom prst="roundRect">
            <a:avLst>
              <a:gd name="adj" fmla="val 31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graphicFrame>
        <p:nvGraphicFramePr>
          <p:cNvPr id="242" name="242"/>
          <p:cNvGraphicFramePr/>
          <p:nvPr/>
        </p:nvGraphicFramePr>
        <p:xfrm rot="0" flipH="0" flipV="0">
          <a:off x="4533900" y="2295525"/>
          <a:ext cx="7162800" cy="16383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43" name=""/>
          <p:cNvSpPr/>
          <p:nvPr/>
        </p:nvSpPr>
        <p:spPr>
          <a:xfrm rot="0" flipH="0" flipV="0">
            <a:off x="4419600" y="4162425"/>
            <a:ext cx="47625" cy="381000"/>
          </a:xfrm>
          <a:prstGeom prst="roundRect">
            <a:avLst>
              <a:gd name="adj" fmla="val 4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581525" y="4124325"/>
            <a:ext cx="7229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显存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16GB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，而且架构很新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81525" y="4352925"/>
            <a:ext cx="72294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预编译好的算子经常用不了，现场编译又容易失败——几个模型就是死在这一步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419600" y="4848225"/>
            <a:ext cx="47625" cy="38100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581525" y="4810125"/>
            <a:ext cx="7229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许可证要能交付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581525" y="5038725"/>
            <a:ext cx="72294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论文原方案里的语音模型是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CC-BY-NC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，非商用——这类一律不碰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4419600" y="5534025"/>
            <a:ext cx="47625" cy="38100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581525" y="5495925"/>
            <a:ext cx="7229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能跑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排在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最好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前面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581525" y="5724525"/>
            <a:ext cx="72294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效果榜上排第一但装不上的模型，对我等于零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A6000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显存与数量取自论文实验设置；本机为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RTX 5070 Ti 16GB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54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方案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六个位置，全部换掉&lt;/Text&gt;&#10;            &lt;Text style={{ fontSize: 17, color: '#8B97A8', marginLeft: 6 }}&gt;不是为了效果更好，是为了先能在这张卡上跑起来&lt;/Text&gt;&#10;        &lt;/Box&gt;&#10;&#10;        &lt;Box style={{ height: 412 }}&gt;&#10;            &lt;Table&#10;                style={{ width: '100%', height: '100%' }}&#10;                defaultTextStyle={{ fontSize: 17, textAlign: 'left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位置', textStyle: { bold: true, color: '#FFFFFF', fontSize: 18 }, cellStyle: { background: { color: '#0E3F8C' } } },&#10;                        { text: '论文用的模型', textStyle: { bold: true, color: '#FFFFFF', fontSize: 18 }, cellStyle: { background: { color: '#0E3F8C' } } },&#10;                        { text: '换成', textStyle: { bold: true, color: '#FFFFFF', fontSize: 18 }, cellStyle: { background: { color: '#0E3F8C' } } },&#10;                        { text: '为什么必须换', textStyle: { bold: true, color: '#FFFFFF', fontSize: 18 }, cellStyle: { background: { color: '#0E3F8C' } } },&#10;                    ],&#10;                    [&#10;                        '语音合成',&#10;                        'F5-TTS 0.34B',&#10;                        { text: 'Qwen3-TTS-1.7B', textStyle: { bold: true, color: '#1E4FA8' } },&#10;                        '原模型是 CC-BY-NC 非商用，不能交付',&#10;                    ],&#10;                    [&#10;                        { text: '光标定位', cellStyle: { background: { color: '#F7F9FC' } } },&#10;                        { text: 'UI-TARS-1.5-7B', cellStyle: { background: { color: '#F7F9FC' } } },&#10;                        { text: 'GUI-Owl-1.5-4B', textStyle: { bold: true, color: '#1E4FA8' }, cellStyle: { background: { color: '#F7F9FC' } } },&#10;                        { text: '7B 的 bf16 要 15GB 以上，开箱就爆显存', cellStyle: { background: { color: '#F7F9FC' } } },&#10;                    ],&#10;                    [&#10;                        '转写对齐',&#10;                        'WhisperX large-v3',&#10;                        { text: 'Qwen3-ASR + ForcedAligner', textStyle: { bold: true, color: '#1E4FA8' } },&#10;                        '依赖链更短，和光标那边共用一套模型家族',&#10;                    ],&#10;                    [&#10;                        { text: '数字人', cellStyle: { background: { color: '#F7F9FC' } } },&#10;                        { text: 'Hallo2', cellStyle: { background: { color: '#F7F9FC' } } },&#10;                        { text: 'MuseTalk', textStyle: { bold: true, color: '#1E4FA8' }, cellStyle: { background: { color: '#F7F9FC' } } },&#10;                        { text: '原模型锁 CUDA 11.8，不含这台卡的编译目标', cellStyle: { background: { color: '#F7F9FC' } } },&#10;                    ],&#10;                    [&#10;                        '语言 + 视觉',&#10;                        'GPT-4.1',&#10;                        { text: 'DeepSeek-V4.1-Flash', textStyle: { bold: true, color: '#1E4FA8' } },&#10;                        '支持原生图像输入，代码几乎不用改',&#10;                    ],&#10;                    [&#10;                        { text: '视频理解', cellStyle: { background: { color: '#F7F9FC' } } },&#10;                        { text: 'Gemini-2.5-Flash', cellStyle: { background: { color: '#F7F9FC' } } },&#10;                        { text: 'Qwen3.5-Omni-Plus', textStyle: { bold: true, color: '#1E4FA8' }, cellStyle: { background: { color: '#F7F9FC' } } },&#10;                        { text: 'DeepSeek 不支持视频，这一段只能换一家', cellStyle: { background: { color: '#F7F9FC' } } },&#10;                    ],&#10;                ]}&#10;            /&gt;&#10;        &lt;/Box&gt;&#10;&#10;        &lt;Box style={{ height: 64, background: '#E8EFF8', borderLeft: '4px solid #1E4FA8', borderRadius: 4, padding: '0 20px', flexDirection: 'row', alignItems: 'center', gap: 18 }}&gt;&#10;            &lt;Text style={{ fontSize: 15, fontWeight: 'bold', color: '#0E3F8C', letterSpacing: 1 }}&gt;换完的结果&lt;/Text&gt;&#10;            &lt;Text style={{ fontSize: 18, color: '#1A2230', lineHeight: 1.4 }}&gt;本地侧从 5 个模型、3 套环境收敛成 2 个模型家族，显存峰值从 24GB 以上压到约 10GB。API 侧几乎没动代码：上游本来就带兜底分支，传个参数就切过去了。&lt;/Text&gt;&#10;        &lt;/Box&gt;&#10;    &lt;/Box&gt;&#10;&#10;    &lt;Box style={{ height: 48, padding: '0 40px', flexDirection: 'row', alignItems: 'center', justifyContent: 'space-between' }}&gt;&#10;        &lt;Text style={{ fontSize: 14, color: '#8B97A8' }}&gt;许可证：Qwen3 系列 Apache-2.0 · GUI-Owl 与 MuseTalk 为 MIT&lt;/Text&gt;&#10;        &lt;Text style={{ fontSize: 16, fontWeight: 'bold', color: '#0E3F8C' }}&gt;0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468100" y="2476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六个位置，全部换掉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76675" y="102870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不是为了效果更好，是为了先能在这张卡上跑起来</a:t>
            </a:r>
            <a:endParaRPr/>
          </a:p>
        </p:txBody>
      </p:sp>
      <p:graphicFrame>
        <p:nvGraphicFramePr>
          <p:cNvPr id="262" name=""/>
          <p:cNvGraphicFramePr/>
          <p:nvPr/>
        </p:nvGraphicFramePr>
        <p:xfrm rot="0" flipH="0" flipV="0">
          <a:off x="381000" y="1485900"/>
          <a:ext cx="11430000" cy="3924300"/>
        </p:xfrm>
        <a:graphic>
          <a:graphicData uri="http://schemas.openxmlformats.org/drawingml/2006/table">
            <a:tbl>
              <a:tblGrid>
                <a:gridCol w="1315025">
                  <a:extLst>
                    <a:ext uri="{9D8B030D-6E8A-4147-A177-3AD203B41FA5}">
                      <a16:colId val="1"/>
                    </a:ext>
                  </a:extLst>
                </a:gridCol>
                <a:gridCol w="2099334">
                  <a:extLst>
                    <a:ext uri="{9D8B030D-6E8A-4147-A177-3AD203B41FA5}">
                      <a16:colId val="2"/>
                    </a:ext>
                  </a:extLst>
                </a:gridCol>
                <a:gridCol w="3341157">
                  <a:extLst>
                    <a:ext uri="{9D8B030D-6E8A-4147-A177-3AD203B41FA5}">
                      <a16:colId val="3"/>
                    </a:ext>
                  </a:extLst>
                </a:gridCol>
                <a:gridCol w="467448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57444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位置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论文用的模型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换成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为什么必须换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583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语音合成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F5-TTS 0.34B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Qwen3-TTS-1.7B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原模型是 CC-BY-NC 非商用，不能交付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583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光标定位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UI-TARS-1.5-7B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GUI-Owl-1.5-4B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7B 的 bf16 要 15GB 以上，开箱就爆显存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583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转写对齐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WhisperX large-v3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Qwen3-ASR + ForcedAligner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依赖链更短，和光标那边共用一套模型家族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583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数字人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Hallo2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MuseTalk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原模型锁 CUDA 11.8，不含这台卡的编译目标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583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语言 + 视觉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GPT-4.1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DeepSeek-V4.1-Flash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支持原生图像输入，代码几乎不用改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583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视频理解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Gemini-2.5-Flash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Qwen3.5-Omni-Plus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DeepSeek 不支持视频，这一段只能换一家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63" name=""/>
          <p:cNvSpPr/>
          <p:nvPr/>
        </p:nvSpPr>
        <p:spPr>
          <a:xfrm rot="0" flipH="0" flipV="0">
            <a:off x="419100" y="5562600"/>
            <a:ext cx="11430000" cy="609600"/>
          </a:xfrm>
          <a:prstGeom prst="roundRect">
            <a:avLst>
              <a:gd name="adj" fmla="val 625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419100" y="5562600"/>
            <a:ext cx="11430000" cy="609600"/>
          </a:xfrm>
          <a:custGeom>
            <a:pathLst>
              <a:path w="1200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5781675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0E3F8C"/>
                </a:solidFill>
                <a:latin typeface="Microsoft YaHei"/>
                <a:ea typeface="Microsoft YaHei"/>
              </a:rPr>
              <a:t>换完的结果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485900" y="5581650"/>
            <a:ext cx="10134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本地侧从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5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个模型、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3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套环境收敛成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个模型家族，显存峰值从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24GB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以上压到约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10GB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API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侧几乎没动代码：上游本来就带兜底分支，传个参数就切过去了。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97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许可证：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Qwen3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系列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Apache-2.0 · GUI-Owl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MuseTalk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MIT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9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架构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改在哪一层&lt;/Text&gt;&#10;            &lt;Text style={{ fontSize: 17, color: '#8B97A8', marginLeft: 6 }}&gt;分三层看：哪一层是我们加的，哪一层原样不动&lt;/Text&gt;&#10;        &lt;/Box&gt;&#10;&#10;        &lt;Box style={{ height: 300, background: '#F7F9FC', border: '1px solid #D6DCE5', borderRadius: 6, padding: 10 }}&gt;&#10;            &lt;svg width={1180} height={280} viewBox='0 0 1180 280'&gt;&#10;                &lt;text x='0' y='13' fontSize='15' fill='#8B97A8'&gt;① 我们自己加的输入层 —— 论文里没有这一层，因为论文的输入就是它自带的 LaTeX 工程&lt;/text&gt;&#10;                &lt;rect x='0' y='22' width='265' height='52' rx='6' fill='#E8EFF8' stroke='#1E4FA8' strokeWidth='1' /&gt;&#10;                &lt;text x='132' y='45' fontSize='17' fill='#0E3F8C' textAnchor='middle' dominantBaseline='central'&gt;PDF / Word / .zip&lt;/text&gt;&#10;                &lt;text x='132' y='62' fontSize='14' fill='#4A5568' textAnchor='middle' dominantBaseline='central'&gt;使用者手上真实有的东西&lt;/text&gt;&#10;&#10;                &lt;rect x='305' y='22' width='265' height='52' rx='6' fill='#E8EFF8' stroke='#1E4FA8' strokeWidth='1' /&gt;&#10;                &lt;text x='437' y='45' fontSize='17' fill='#0E3F8C' textAnchor='middle' dominantBaseline='central'&gt;paper_ingest&lt;/text&gt;&#10;                &lt;text x='437' y='62' fontSize='14' fill='#4A5568' textAnchor='middle' dominantBaseline='central'&gt;提正文 · 本地跑，不花钱&lt;/text&gt;&#10;&#10;                &lt;rect x='610' y='22' width='265' height='52' rx='6' fill='#E8EFF8' stroke='#1E4FA8' strokeWidth='1' /&gt;&#10;                &lt;text x='742' y='45' fontSize='17' fill='#0E3F8C' textAnchor='middle' dominantBaseline='central'&gt;paper_struct&lt;/text&gt;&#10;                &lt;text x='742' y='62' fontSize='14' fill='#4A5568' textAnchor='middle' dominantBaseline='central'&gt;结构化成 main.tex · 唯一花钱&lt;/text&gt;&#10;&#10;                &lt;rect x='915' y='22' width='265' height='52' rx='6' fill='#E8EFF8' stroke='#1E4FA8' strokeWidth='1' /&gt;&#10;                &lt;text x='1047' y='45' fontSize='17' fill='#0E3F8C' textAnchor='middle' dominantBaseline='central'&gt;LaTeX 工程&lt;/text&gt;&#10;                &lt;text x='1047' y='62' fontSize='14' fill='#4A5568' textAnchor='middle' dominantBaseline='central'&gt;main.tex + figures/&lt;/text&gt;&#10;&#10;                &lt;text x='0' y='104' fontSize='15' fill='#8B97A8'&gt;② 上游 PaperTalker 的四个 builder —— 分工和算法我们一个字没改&lt;/text&gt;&#10;                &lt;rect x='0' y='112' width='280' height='48' rx='6' fill='#FFFFFF' stroke='#D6DCE5' strokeWidth='1' /&gt;&#10;                &lt;text x='140' y='136' fontSize='17' fill='#4A5568' textAnchor='middle' dominantBaseline='central'&gt;Slide builder&lt;/text&gt;&#10;&#10;                &lt;rect x='300' y='112' width='280' height='48' rx='6' fill='#FFFFFF' stroke='#D6DCE5' strokeWidth='1' /&gt;&#10;                &lt;text x='440' y='136' fontSize='17' fill='#4A5568' textAnchor='middle' dominantBaseline='central'&gt;Subtitle builder&lt;/text&gt;&#10;&#10;                &lt;rect x='600' y='112' width='280' height='48' rx='6' fill='#FFFFFF' stroke='#D6DCE5' strokeWidth='1' /&gt;&#10;                &lt;text x='740' y='136' fontSize='17' fill='#4A5568' textAnchor='middle' dominantBaseline='central'&gt;Cursor builder&lt;/text&gt;&#10;&#10;                &lt;rect x='900' y='112' width='280' height='48' rx='6' fill='#FFFFFF' stroke='#D6DCE5' strokeWidth='1' /&gt;&#10;                &lt;text x='1040' y='136' fontSize='17' fill='#4A5568' textAnchor='middle' dominantBaseline='central'&gt;Talker builder&lt;/text&gt;&#10;&#10;                &lt;line x1='140' y1='160' x2='140' y2='178' stroke='#8B97A8' strokeWidth='1' strokeDasharray='3 3' /&gt;&#10;                &lt;line x1='440' y1='160' x2='440' y2='178' stroke='#8B97A8' strokeWidth='1' strokeDasharray='3 3' /&gt;&#10;                &lt;line x1='740' y1='160' x2='740' y2='178' stroke='#8B97A8' strokeWidth='1' strokeDasharray='3 3' /&gt;&#10;                &lt;line x1='1040' y1='160' x2='1040' y2='178' stroke='#8B97A8' strokeWidth='1' strokeDasharray='3 3' /&gt;&#10;&#10;                &lt;text x='0' y='194' fontSize='15' fill='#8B97A8'&gt;③ 我们贴在各模块上的改动 —— 按模块对号入座&lt;/text&gt;&#10;                &lt;rect x='0' y='202' width='280' height='56' rx='6' fill='#E8EFF8' stroke='#1E4FA8' strokeWidth='1' /&gt;&#10;                &lt;text x='140' y='222' fontSize='16' fill='#0E3F8C' textAnchor='middle' dominantBaseline='central'&gt;修 5 处编码&lt;/text&gt;&#10;                &lt;text x='140' y='242' fontSize='14' fill='#4A5568' textAnchor='middle' dominantBaseline='central'&gt;接线论文配图清单&lt;/text&gt;&#10;&#10;                &lt;rect x='300' y='202' width='280' height='56' rx='6' fill='#E8EFF8' stroke='#1E4FA8' strokeWidth='1' /&gt;&#10;                &lt;text x='440' y='222' fontSize='16' fill='#0E3F8C' textAnchor='middle' dominantBaseline='central'&gt;退化护栏&lt;/text&gt;&#10;                &lt;text x='440' y='242' fontSize='14' fill='#4A5568' textAnchor='middle' dominantBaseline='central'&gt;重试 + 判空 + 判完整性&lt;/text&gt;&#10;&#10;                &lt;rect x='600' y='202' width='280' height='56' rx='6' fill='#E8EFF8' stroke='#1E4FA8' strokeWidth='1' /&gt;&#10;                &lt;text x='740' y='222' fontSize='16' fill='#0E3F8C' textAnchor='middle' dominantBaseline='central'&gt;换 GUI-Owl&lt;/text&gt;&#10;                &lt;text x='740' y='242' fontSize='14' fill='#4A5568' textAnchor='middle' dominantBaseline='central'&gt;逐条上报进度&lt;/text&gt;&#10;&#10;                &lt;rect x='900' y='202' width='280' height='56' rx='6' fill='#E8EFF8' stroke='#1E4FA8' strokeWidth='1' /&gt;&#10;                &lt;text x='1040' y='222' fontSize='16' fill='#0E3F8C' textAnchor='middle' dominantBaseline='central'&gt;换 MuseTalk&lt;/text&gt;&#10;                &lt;text x='1040' y='242' fontSize='14' fill='#4A5568' textAnchor='middle' dominantBaseline='central'&gt;偶数尺寸补丁 + 音频指纹&lt;/text&gt;&#10;            &lt;/svg&gt;&#10;        &lt;/Box&gt;&#10;&#10;        &lt;Box style={{ height: 176, flexDirection: 'row', gap: 20 }}&gt;&#10;            &lt;Box style={{ width: 590, height: 176, background: '#F7F9FC', border: '1px solid #D6DCE5', borderRadius: 6, padding: '16px 20px', flexDirection: 'column', justifyContent: 'space-between' }}&gt;&#10;                &lt;Box style={{ flexDirection: 'column', gap: 6 }}&gt;&#10;                    &lt;Text style={{ fontSize: 22, fontWeight: 'bold', color: '#0E3F8C' }}&gt;改动的规模&lt;/Text&gt;&#10;                    &lt;Text style={{ fontSize: 16, color: '#4A5568', lineHeight: 1.5 }}&gt;对上游目录一共 20 个文件：12 个是修改，8 个是新增。改动集中在输入层、平台适配和静默失败修复，算法主干原样保留——动了主干，就不好说自己在复现论文了。&lt;/Text&gt;&#10;                &lt;/Box&gt;&#10;                &lt;Text style={{ fontSize: 20, fontWeight: 'bold', color: '#1E4FA8' }}&gt;+3552 行 / -260 行&lt;/Text&gt;&#10;            &lt;/Box&gt;&#10;&#10;            &lt;Box style={{ width: 590, height: 176, background: '#F7F9FC', border: '1px solid #D6DCE5', borderRadius: 6, padding: '16px 20px', flexDirection: 'column', justifyContent: 'space-between' }}&gt;&#10;                &lt;Box style={{ flexDirection: 'column', gap: 6 }}&gt;&#10;                    &lt;Text style={{ fontSize: 22, fontWeight: 'bold', color: '#0E3F8C' }}&gt;刻意没动的部分&lt;/Text&gt;&#10;                    &lt;Text style={{ fontSize: 16, color: '#4A5568', lineHeight: 1.5 }}&gt;四个 builder 的分工、树搜索的算法、按页独立生成的思路都保持原样。对上游的补丁随本仓库版本库一起走，搬到服务器上不用手工重打一遍。&lt;/Text&gt;&#10;                &lt;/Box&gt;&#10;                &lt;Text style={{ fontSize: 20, fontWeight: 'bold', color: '#1E4FA8' }}&gt;算法主干 0 处改动&lt;/Text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改动量统计口径：首次引入上游代码的提交到当前版本&lt;/Text&gt;&#10;        &lt;Text style={{ fontSize: 16, fontWeight: 'bold', color: '#0E3F8C' }}&gt;0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1468100" y="2476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1714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改在哪一层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2505075" y="1028700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分三层看：哪一层是我们加的，哪一层原样不动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381000" y="1485900"/>
            <a:ext cx="11430000" cy="28575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581150"/>
            <a:ext cx="11239500" cy="2667000"/>
          </a:xfrm>
          <a:prstGeom prst="rect">
            <a:avLst/>
          </a:prstGeom>
          <a:ln/>
        </p:spPr>
      </p:pic>
      <p:sp>
        <p:nvSpPr>
          <p:cNvPr id="279" name=""/>
          <p:cNvSpPr/>
          <p:nvPr/>
        </p:nvSpPr>
        <p:spPr>
          <a:xfrm rot="0" flipH="0" flipV="0">
            <a:off x="381000" y="4495800"/>
            <a:ext cx="5619750" cy="167640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71500" y="4648200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改动的规模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71500" y="4962525"/>
            <a:ext cx="5238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对上游目录一共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20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个文件：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12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个是修改，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8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个是新增。改动集中在输入层、平台适配和静默失败修复，算法主干原样保留——动了主干，就不好说自己在复现论文了。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71500" y="5791200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+3552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行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/ -260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191250" y="4495800"/>
            <a:ext cx="5619750" cy="167640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381750" y="4648200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刻意没动的部分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381750" y="4962525"/>
            <a:ext cx="5238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builder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的分工、树搜索的算法、按页独立生成的思路都保持原样。对上游的补丁随本仓库版本库一起走，搬到服务器上不用手工重打一遍。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381750" y="5791200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算法主干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0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处改动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改动量统计口径：首次引入上游代码的提交到当前版本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9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核心功能 1 / 3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让输入没有门槛&lt;/Text&gt;&#10;            &lt;Text style={{ fontSize: 17, color: '#8B97A8', marginLeft: 6 }}&gt;论文要求交一个 LaTeX 工程，可使用者手上只有 PDF 或 Word&lt;/Text&gt;&#10;        &lt;/Box&gt;&#10;&#10;        &lt;Box style={{ height: 492, flexDirection: 'row', gap: 24 }}&gt;&#10;            &lt;Box style={{ width: 772, height: 492, flexDirection: 'column', gap: 16 }}&gt;&#10;                &lt;Box style={{ height: 104, background: '#F7F9FC', border: '1px solid #D6DCE5', borderRadius: 6, padding: 10 }}&gt;&#10;                    &lt;svg width={752} height={84} viewBox='0 0 752 84'&gt;&#10;                        &lt;rect x='0' y='12' width='220' height='60' rx='6' fill='#E8EFF8' stroke='#1E4FA8' strokeWidth='1' /&gt;&#10;                        &lt;text x='110' y='34' fontSize='17' fill='#0E3F8C' textAnchor='middle' dominantBaseline='central'&gt;PDF / Word / .zip&lt;/text&gt;&#10;                        &lt;text x='110' y='53' fontSize='14' fill='#4A5568' textAnchor='middle' dominantBaseline='central'&gt;使用者真实拿得出来的东西&lt;/text&gt;&#10;&#10;                        &lt;line x1='226' y1='42' x2='262' y2='42' stroke='#1E4FA8' strokeWidth='1.5' /&gt;&#10;                        &lt;path d='M262 42 L256 38 L256 46 Z' fill='#1E4FA8' /&gt;&#10;&#10;                        &lt;rect x='270' y='12' width='210' height='60' rx='6' fill='#E8EFF8' stroke='#1E4FA8' strokeWidth='1' /&gt;&#10;                        &lt;text x='375' y='34' fontSize='17' fill='#0E3F8C' textAnchor='middle' dominantBaseline='central'&gt;提取正文&lt;/text&gt;&#10;                        &lt;text x='375' y='53' fontSize='14' fill='#4A5568' textAnchor='middle' dominantBaseline='central'&gt;本地跑，不花 API 钱&lt;/text&gt;&#10;&#10;                        &lt;line x1='486' y1='42' x2='522' y2='42' stroke='#1E4FA8' strokeWidth='1.5' /&gt;&#10;                        &lt;path d='M522 42 L516 38 L516 46 Z' fill='#1E4FA8' /&gt;&#10;&#10;                        &lt;rect x='530' y='12' width='222' height='60' rx='6' fill='#E8EFF8' stroke='#1E4FA8' strokeWidth='1' /&gt;&#10;                        &lt;text x='641' y='34' fontSize='17' fill='#0E3F8C' textAnchor='middle' dominantBaseline='central'&gt;结构化成 main.tex&lt;/text&gt;&#10;                        &lt;text x='641' y='53' fontSize='14' fill='#4A5568' textAnchor='middle' dominantBaseline='central'&gt;一次 API 调用，唯一花钱的一步&lt;/text&gt;&#10;                    &lt;/svg&gt;&#10;                &lt;/Box&gt;&#10;&#10;                &lt;Box style={{ height: 240, flexDirection: 'column', gap: 12 }}&gt;&#10;                    &lt;Box style={{ flex: 1, flexDirection: 'row', gap: 12, alignItems: 'flex-start' }}&gt;&#10;                        &lt;Box style={{ width: 5, height: 36, background: '#1E4FA8', borderRadius: 2, marginTop: 3 }} /&gt;&#10;                        &lt;Box style={{ flex: 1, flexDirection: 'column', gap: 2 }}&gt;&#10;                            &lt;Text style={{ fontSize: 19, fontWeight: 'bold', color: '#1A2230' }}&gt;不用 Office / WPS 的自动化接口&lt;/Text&gt;&#10;                            &lt;Text style={{ fontSize: 15, color: '#4A5568', lineHeight: 1.4 }}&gt;它会连上你正开着的 WPS，然后挂死两分半钟——一律改成纯 Python 处理&lt;/Text&gt;&#10;                        &lt;/Box&gt;&#10;                    &lt;/Box&gt;&#10;&#10;                    &lt;Box style={{ flex: 1, flexDirection: 'row', gap: 12, alignItems: 'flex-start' }}&gt;&#10;                        &lt;Box style={{ width: 5, height: 36, background: '#1E4FA8', borderRadius: 2, marginTop: 3 }} /&gt;&#10;                        &lt;Box style={{ flex: 1, flexDirection: 'column', gap: 2 }}&gt;&#10;                            &lt;Text style={{ fontSize: 19, fontWeight: 'bold', color: '#1A2230' }}&gt;PDF 提取必须做&quot;行合并&quot;&lt;/Text&gt;&#10;                            &lt;Text style={{ fontSize: 15, color: '#4A5568', lineHeight: 1.4 }}&gt;PDF 按列宽把一句话硬切成半句，不合并的话交给模型的是碎片&lt;/Text&gt;&#10;                        &lt;/Box&gt;&#10;                    &lt;/Box&gt;&#10;&#10;                    &lt;Box style={{ flex: 1, flexDirection: 'row', gap: 12, alignItems: 'flex-start' }}&gt;&#10;                        &lt;Box style={{ width: 5, height: 36, background: '#D9534F', borderRadius: 2, marginTop: 3 }} /&gt;&#10;                        &lt;Box style={{ flex: 1, flexDirection: 'column', gap: 2 }}&gt;&#10;                            &lt;Text style={{ fontSize: 19, fontWeight: 'bold', color: '#1A2230' }}&gt;三种格式里，PDF 反而最好用&lt;/Text&gt;&#10;                            &lt;Text style={{ fontSize: 15, color: '#4A5568', lineHeight: 1.4 }}&gt;真实 Word 根本不用标题样式，docx 在结构上没有便宜可占&lt;/Text&gt;&#10;                        &lt;/Box&gt;&#10;                    &lt;/Box&gt;&#10;                &lt;/Box&gt;&#10;&#10;                &lt;Box style={{ height: 116, background: '#E8EFF8', borderLeft: '4px solid #1E4FA8', borderRadius: 4, padding: '14px 18px', flexDirection: 'column', justifyContent: 'center', gap: 6 }}&gt;&#10;                    &lt;Text style={{ fontSize: 15, fontWeight: 'bold', color: '#0E3F8C', letterSpacing: 1 }}&gt;判断&lt;/Text&gt;&#10;                    &lt;Text style={{ fontSize: 18, color: '#1A2230', lineHeight: 1.5 }}&gt;第三个结论和直觉相反。我一开始也以为结构更规整的 docx 会更好，实测之后才发现 PDF 的噪声最少，所以现在默认优先用 PDF。&lt;/Text&gt;&#10;                &lt;/Box&gt;&#10;            &lt;/Box&gt;&#10;&#10;            &lt;Box style={{ width: 404, height: 492, flexDirection: 'column', gap: 10 }}&gt;&#10;                &lt;Box style={{ width: 404, height: 264, background: '#F7F9FC', border: '1px solid #D6DCE5', borderRadius: 6, padding: 8 }}&gt;&#10;                    &lt;Image src='assets/slide_real_02.png' style={{ width: 388, height: 248, objectFit: 'contain' }} /&gt;&#10;                &lt;/Box&gt;&#10;                &lt;Text style={{ fontSize: 13, color: '#8B97A8', lineHeight: 1.4 }}&gt;本机流水线真实渲染出来的幻灯片（第 2 页），位于转换层下游&lt;/Text&gt;&#10;&#10;                &lt;Box style={{ flex: 1, background: '#F7F9FC', border: '1px solid #D6DCE5', borderRadius: 6, padding: '12px 16px', flexDirection: 'column', justifyContent: 'center', gap: 4 }}&gt;&#10;                    &lt;Text style={{ fontSize: 58, fontWeight: 'bold', color: '#1E4FA8', lineHeight: 1.05 }}&gt;1.3%&lt;/Text&gt;&#10;                    &lt;Text style={{ fontSize: 14, color: '#4A5568', lineHeight: 1.45 }}&gt;结构化撞到输出上限时被截掉的正文比例（本机实测）。截断点选在最后一个环境配平的位置，补上结束标记后照样编译通过。&lt;/Text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结构化输出上限 65536 token，超限先续写最多 3 轮，仍不全才截断&lt;/Text&gt;&#10;        &lt;Text style={{ fontSize: 16, fontWeight: 'bold', color: '#0E3F8C' }}&gt;06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629900" y="247650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核心功能</a:t>
            </a:r>
            <a:r>
              <a:rPr lang="en-US" sz="1200" spc="150">
                <a:solidFill>
                  <a:srgbClr val="8FB6E8"/>
                </a:solidFill>
                <a:latin typeface="Microsoft YaHei"/>
                <a:ea typeface="Microsoft YaHei"/>
              </a:rPr>
              <a:t> 1 / 3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让输入没有门槛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3190875" y="1028700"/>
            <a:ext cx="4495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论文要求交一个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LaTeX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工程，可使用者手上只有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PDF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或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Word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381000" y="1485900"/>
            <a:ext cx="7353300" cy="990600"/>
          </a:xfrm>
          <a:prstGeom prst="roundRect">
            <a:avLst>
              <a:gd name="adj" fmla="val 576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581150"/>
            <a:ext cx="7162800" cy="800100"/>
          </a:xfrm>
          <a:prstGeom prst="rect">
            <a:avLst/>
          </a:prstGeom>
          <a:ln/>
        </p:spPr>
      </p:pic>
      <p:sp>
        <p:nvSpPr>
          <p:cNvPr id="299" name=""/>
          <p:cNvSpPr/>
          <p:nvPr/>
        </p:nvSpPr>
        <p:spPr>
          <a:xfrm rot="0" flipH="0" flipV="0">
            <a:off x="381000" y="2657475"/>
            <a:ext cx="47625" cy="34290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42925" y="2628900"/>
            <a:ext cx="7191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不用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Office / WPS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的自动化接口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42925" y="2867025"/>
            <a:ext cx="71913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它会连上你正开着的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WPS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，然后挂死两分半钟——一律改成纯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Python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处理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381000" y="3457575"/>
            <a:ext cx="47625" cy="34290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42925" y="3429000"/>
            <a:ext cx="7191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PDF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提取必须做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行合并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42925" y="3667125"/>
            <a:ext cx="71913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PDF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按列宽把一句话硬切成半句，不合并的话交给模型的是碎片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81000" y="4257675"/>
            <a:ext cx="47625" cy="342900"/>
          </a:xfrm>
          <a:prstGeom prst="roundRect">
            <a:avLst>
              <a:gd name="adj" fmla="val 4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42925" y="4229100"/>
            <a:ext cx="7191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三种格式里，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PDF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反而最好用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42925" y="4467225"/>
            <a:ext cx="71913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真实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Word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根本不用标题样式，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docx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在结构上没有便宜可占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19100" y="5067300"/>
            <a:ext cx="7353300" cy="1104900"/>
          </a:xfrm>
          <a:prstGeom prst="roundRect">
            <a:avLst>
              <a:gd name="adj" fmla="val 3448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419100" y="5067300"/>
            <a:ext cx="7353300" cy="1104900"/>
          </a:xfrm>
          <a:custGeom>
            <a:pathLst>
              <a:path w="772" h="116">
                <a:moveTo>
                  <a:pt x="4" y="116"/>
                </a:moveTo>
                <a:cubicBezTo>
                  <a:pt x="2" y="116"/>
                  <a:pt x="0" y="114"/>
                  <a:pt x="0" y="11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90550" y="5200650"/>
            <a:ext cx="6972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0E3F8C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90550" y="5429250"/>
            <a:ext cx="6972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第三个结论和直觉相反。我一开始也以为结构更规整的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docx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会更好，实测之后才发现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PDF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的噪声最少，所以现在默认优先用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PDF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962900" y="1485900"/>
            <a:ext cx="3848100" cy="2514600"/>
          </a:xfrm>
          <a:prstGeom prst="roundRect">
            <a:avLst>
              <a:gd name="adj" fmla="val 227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13" name=""/>
          <p:cNvPicPr>
            <a:picLocks noChangeAspect="1"/>
          </p:cNvPicPr>
          <p:nvPr/>
        </p:nvPicPr>
        <p:blipFill>
          <a:blip r:embed="rId2"/>
          <a:srcRect l="0" t="7388" r="0" b="7388"/>
          <a:stretch>
            <a:fillRect/>
          </a:stretch>
        </p:blipFill>
        <p:spPr>
          <a:xfrm rot="0" flipH="0" flipV="0">
            <a:off x="8039100" y="1562100"/>
            <a:ext cx="3695700" cy="2362200"/>
          </a:xfrm>
          <a:prstGeom prst="rect">
            <a:avLst/>
          </a:prstGeom>
          <a:ln/>
        </p:spPr>
      </p:pic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962900" y="4095750"/>
            <a:ext cx="38481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本机流水线真实渲染出来的幻灯片（第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页），位于转换层下游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7962900" y="4400550"/>
            <a:ext cx="3848100" cy="17716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15300" y="4562475"/>
            <a:ext cx="3543300" cy="7048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1.3%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115300" y="5305425"/>
            <a:ext cx="35433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结构化撞到输出上限时被截掉的正文比例（本机实测）。截断点选在最后一个环境配平的位置，补上结束标记后照样编译通过。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405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结构化输出上限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65536 token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，超限先续写最多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轮，仍不全才截断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20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核心功能 2 / 3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幻灯片里终于有图了&lt;/Text&gt;&#10;            &lt;Text style={{ fontSize: 17, color: '#8B97A8', marginLeft: 6 }}&gt;这张图是从论文 PDF 里提出来的，不是画的&lt;/Text&gt;&#10;        &lt;/Box&gt;&#10;&#10;        &lt;Box style={{ height: 492, flexDirection: 'row', gap: 24 }}&gt;&#10;            &lt;Box style={{ width: 640, height: 492, flexDirection: 'column', gap: 12 }}&gt;&#10;                &lt;Box style={{ width: 640, height: 428, background: '#F7F9FC', border: '1px solid #D6DCE5', borderRadius: 6, padding: 8 }}&gt;&#10;                    &lt;Image src='assets/fig_extract_01.jpg' style={{ width: 624, height: 412, objectFit: 'contain' }} /&gt;&#10;                &lt;/Box&gt;&#10;                &lt;Text style={{ fontSize: 14, color: '#8B97A8', lineHeight: 1.4 }}&gt;提取结果：论文第 6 页的插图，1984 × 1542，输出为 JPEG 落入工程 figures/ 目录&lt;/Text&gt;&#10;            &lt;/Box&gt;&#10;&#10;            &lt;Box style={{ width: 536, height: 492, flexDirection: 'column', gap: 12 }}&gt;&#10;                &lt;Text style={{ fontSize: 18, fontWeight: 'bold', color: '#1A2230', lineHeight: 1.45 }}&gt;模型一张图都没引用，这不是它偷懒——它按提示词做对了&lt;/Text&gt;&#10;&#10;                &lt;Box style={{ height: 88, flexDirection: 'row', gap: 12, alignItems: 'flex-start' }}&gt;&#10;                    &lt;Box style={{ width: 72, height: 26, background: '#E8EFF8', borderRadius: 13, alignItems: 'center', justifyContent: 'center' }}&gt;&#10;                        &lt;Text style={{ fontSize: 14, fontWeight: 'bold', color: '#0E3F8C' }}&gt;问题&lt;/Text&gt;&#10;                    &lt;/Box&gt;&#10;                    &lt;Text style={{ flex: 1, fontSize: 16, color: '#4A5568', lineHeight: 1.45 }}&gt;我们从前端只提取正文，所以工程里就只有一个 main.tex，没有任何图片文件可以被引用。&lt;/Text&gt;&#10;                &lt;/Box&gt;&#10;&#10;                &lt;Box style={{ height: 88, flexDirection: 'row', gap: 12, alignItems: 'flex-start' }}&gt;&#10;                    &lt;Box style={{ width: 72, height: 26, background: '#E8EFF8', borderRadius: 13, alignItems: 'center', justifyContent: 'center' }}&gt;&#10;                        &lt;Text style={{ fontSize: 14, fontWeight: 'bold', color: '#0E3F8C' }}&gt;线索&lt;/Text&gt;&#10;                    &lt;/Box&gt;&#10;                    &lt;Text style={{ flex: 1, fontSize: 16, color: '#4A5568', lineHeight: 1.45 }}&gt;中文提示词里写着一句话：若没有可用图片，不要写任何图片引用。所以零张图是正确输出。&lt;/Text&gt;&#10;                &lt;/Box&gt;&#10;&#10;                &lt;Box style={{ height: 88, flexDirection: 'row', gap: 12, alignItems: 'flex-start' }}&gt;&#10;                    &lt;Box style={{ width: 72, height: 26, background: '#F7C1C1', borderRadius: 13, alignItems: 'center', justifyContent: 'center' }}&gt;&#10;                        &lt;Text style={{ fontSize: 14, fontWeight: 'bold', color: '#791F1F' }}&gt;后果&lt;/Text&gt;&#10;                    &lt;/Box&gt;&#10;                    &lt;Text style={{ flex: 1, fontSize: 16, color: '#4A5568', lineHeight: 1.45 }}&gt;树搜索只会缩放图片宽度。没有图，论文这条核心机制就没有任何可做的事——下一页细说。&lt;/Text&gt;&#10;                &lt;/Box&gt;&#10;&#10;                &lt;Box style={{ flex: 1, background: '#E8EFF8', borderLeft: '4px solid #1E4FA8', borderRadius: 4, padding: '14px 18px', flexDirection: 'row', alignItems: 'center', gap: 28 }}&gt;&#10;                    &lt;Box style={{ flexDirection: 'column', gap: 2 }}&gt;&#10;                        &lt;Text style={{ fontSize: 48, fontWeight: 'bold', color: '#0E3F8C', lineHeight: 1.05 }}&gt;2 张&lt;/Text&gt;&#10;                        &lt;Text style={{ fontSize: 14, color: '#4A5568', lineHeight: 1.4 }}&gt;从论文里提出来的插图&lt;/Text&gt;&#10;                    &lt;/Box&gt;&#10;                    &lt;Box style={{ width: 1, height: 62, background: '#B5D4F4' }} /&gt;&#10;                    &lt;Box style={{ flexDirection: 'column', gap: 2 }}&gt;&#10;                        &lt;Text style={{ fontSize: 48, fontWeight: 'bold', color: '#0E3F8C', lineHeight: 1.05 }}&gt;2 次&lt;/Text&gt;&#10;                        &lt;Text style={{ fontSize: 14, color: '#4A5568', lineHeight: 1.4 }}&gt;幻灯片源码里对应的图片引用&lt;/Text&gt;&#10;                    &lt;/Box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日志原文：[figures] 提取 2 张（pdf）→ 已把清单附给幻灯片生成&lt;/Text&gt;&#10;        &lt;Text style={{ fontSize: 16, fontWeight: 'bold', color: '#0E3F8C' }}&gt;07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0629900" y="247650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核心功能</a:t>
            </a:r>
            <a:r>
              <a:rPr lang="en-US" sz="1200" spc="150">
                <a:solidFill>
                  <a:srgbClr val="8FB6E8"/>
                </a:solidFill>
                <a:latin typeface="Microsoft YaHei"/>
                <a:ea typeface="Microsoft YaHei"/>
              </a:rPr>
              <a:t> 2 / 3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幻灯片里终于有图了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876675" y="102870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这张图是从论文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PDF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里提出来的，不是画的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381000" y="1485900"/>
            <a:ext cx="6096000" cy="4076700"/>
          </a:xfrm>
          <a:prstGeom prst="roundRect">
            <a:avLst>
              <a:gd name="adj" fmla="val 140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29" name=""/>
          <p:cNvPicPr>
            <a:picLocks noChangeAspect="1"/>
          </p:cNvPicPr>
          <p:nvPr/>
        </p:nvPicPr>
        <p:blipFill>
          <a:blip r:embed="rId1"/>
          <a:srcRect l="0" t="7524" r="0" b="7524"/>
          <a:stretch>
            <a:fillRect/>
          </a:stretch>
        </p:blipFill>
        <p:spPr>
          <a:xfrm rot="0" flipH="0" flipV="0">
            <a:off x="457200" y="1562100"/>
            <a:ext cx="5943600" cy="3924300"/>
          </a:xfrm>
          <a:prstGeom prst="rect">
            <a:avLst/>
          </a:prstGeom>
          <a:ln/>
        </p:spPr>
      </p:pic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1000" y="5676900"/>
            <a:ext cx="6096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提取结果：论文第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页的插图，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1984 × 1542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，输出为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JPEG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落入工程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figures/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705600" y="1485900"/>
            <a:ext cx="51054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模型一张图都没引用，这不是它偷懒——它按提示词做对了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705600" y="1905000"/>
            <a:ext cx="68580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915150" y="19526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505700" y="1905000"/>
            <a:ext cx="4305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我们从前端只提取正文，所以工程里就只有一个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main.tex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，没有任何图片文件可以被引用。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705600" y="2857500"/>
            <a:ext cx="68580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915150" y="29051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线索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505700" y="2857500"/>
            <a:ext cx="4305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中文提示词里写着一句话：若没有可用图片，不要写任何图片引用。所以零张图是正确输出。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705600" y="3810000"/>
            <a:ext cx="685800" cy="247650"/>
          </a:xfrm>
          <a:prstGeom prst="roundRect">
            <a:avLst>
              <a:gd name="adj" fmla="val 50000"/>
            </a:avLst>
          </a:prstGeom>
          <a:solidFill>
            <a:srgbClr val="F7C1C1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915150" y="38576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91F1F"/>
                </a:solidFill>
                <a:latin typeface="Microsoft YaHei"/>
                <a:ea typeface="Microsoft YaHei"/>
              </a:rPr>
              <a:t>后果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505700" y="3810000"/>
            <a:ext cx="4305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树搜索只会缩放图片宽度。没有图，论文这条核心机制就没有任何可做的事——下一页细说。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743700" y="4762500"/>
            <a:ext cx="5105400" cy="1409700"/>
          </a:xfrm>
          <a:prstGeom prst="roundRect">
            <a:avLst>
              <a:gd name="adj" fmla="val 270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6743700" y="4762500"/>
            <a:ext cx="5105400" cy="1409700"/>
          </a:xfrm>
          <a:custGeom>
            <a:pathLst>
              <a:path w="536" h="148">
                <a:moveTo>
                  <a:pt x="4" y="148"/>
                </a:moveTo>
                <a:cubicBezTo>
                  <a:pt x="2" y="148"/>
                  <a:pt x="0" y="146"/>
                  <a:pt x="0" y="1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915150" y="5057775"/>
            <a:ext cx="1333500" cy="5810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600" b="1">
                <a:solidFill>
                  <a:srgbClr val="0E3F8C"/>
                </a:solidFill>
                <a:latin typeface="Microsoft YaHei"/>
                <a:ea typeface="Microsoft YaHei"/>
              </a:rPr>
              <a:t>2 </a:t>
            </a: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915150" y="56578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从论文里提出来的插图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515350" y="5172075"/>
            <a:ext cx="9525" cy="590550"/>
          </a:xfrm>
          <a:prstGeom prst="rect">
            <a:avLst/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791575" y="5057775"/>
            <a:ext cx="1733550" cy="5810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600" b="1">
                <a:solidFill>
                  <a:srgbClr val="0E3F8C"/>
                </a:solidFill>
                <a:latin typeface="Microsoft YaHei"/>
                <a:ea typeface="Microsoft YaHei"/>
              </a:rPr>
              <a:t>2 </a:t>
            </a: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791575" y="5657850"/>
            <a:ext cx="17335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幻灯片源码里对应的图片引用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914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日志原文：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[figures]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提取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张（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pdf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）→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已把清单附给幻灯片生成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350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核心功能 3 / 3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网页能点，钱花得明白&lt;/Text&gt;&#10;            &lt;Text style={{ fontSize: 17, color: '#8B97A8', marginLeft: 6 }}&gt;命令行没人会用，所以包了一层网页；同时把花钱的两步缓存起来&lt;/Text&gt;&#10;        &lt;/Box&gt;&#10;&#10;        &lt;Box style={{ height: 492, flexDirection: 'row', gap: 24 }}&gt;&#10;            &lt;Box style={{ width: 372, height: 492, background: '#E8EFF8', borderLeft: '5px solid #1E4FA8', borderRadius: 6, padding: '30px 26px', flexDirection: 'column', justifyContent: 'space-between' }}&gt;&#10;                &lt;Box style={{ flexDirection: 'column', gap: 8 }}&gt;&#10;                    &lt;Text style={{ fontSize: 15, color: '#1E4FA8', letterSpacing: 2 }}&gt;讲稿在总花费里的占比&lt;/Text&gt;&#10;                    &lt;Text style={{ fontSize: 76, fontWeight: 'bold', color: '#0E3F8C', lineHeight: 1.05 }}&gt;37–76%&lt;/Text&gt;&#10;                    &lt;Text style={{ fontSize: 16, color: '#4A5568', lineHeight: 1.5 }}&gt;幻灯片返工越多，这个比例越低——钱转移到了幻灯片那一侧&lt;/Text&gt;&#10;                &lt;/Box&gt;&#10;&#10;                &lt;Box style={{ flexDirection: 'column', gap: 8 }}&gt;&#10;                    &lt;Box style={{ height: 1, background: '#B5D4F4' }} /&gt;&#10;                    &lt;Text style={{ fontSize: 15, color: '#4A5568', lineHeight: 1.5 }}&gt;一篇论文的 API token 总量&lt;/Text&gt;&#10;                    &lt;Text style={{ fontSize: 26, fontWeight: 'bold', color: '#0E3F8C' }}&gt;4.8 万 – 10.9 万&lt;/Text&gt;&#10;                &lt;/Box&gt;&#10;            &lt;/Box&gt;&#10;&#10;            &lt;Box style={{ width: 780, height: 492, flexDirection: 'column', gap: 14 }}&gt;&#10;                &lt;Text style={{ fontSize: 18, color: '#1A2230', lineHeight: 1.5 }}&gt;整条链路只有两步要联网花钱：把正文结构化成 LaTeX 工程，以及看幻灯片写讲稿。这两步的产物都按输入指纹存下来了，同一份论文同参数重跑，API 费用为零。&lt;/Text&gt;&#10;&#10;                &lt;Box style={{ height: 240, background: '#F7F9FC', border: '1px solid #D6DCE5', borderRadius: 6, padding: '8px 12px' }}&gt;&#10;                    &lt;Chart&#10;                        style={{ width: '100%', height: 224 }}&#10;                        chartType='barChart'&#10;                        grouping='stacked'&#10;                        title='三个真实样本的 token 构成'&#10;                        titleColor='#0E3F8C'&#10;                        showLegend={true}&#10;                        showDataLabels={true}&#10;                        legendColor='#4A5568'&#10;                        axisColor='#8B97A8'&#10;                        dataLabelColor='#1A2230'&#10;                        colors={['#1E4FA8', '#85B7EB']}&#10;                        data={[&#10;                            ['样本', '幻灯片桶', '讲稿桶'],&#10;                            ['英文论文 · 无返工', 13265, 42343],&#10;                            ['中文论文 · 1 次返工', 38391, 31569],&#10;                            ['中文论文 · 多次返工', 68409, 40241],&#10;                        ]}&#10;                    /&gt;&#10;                &lt;/Box&gt;&#10;&#10;                &lt;Box style={{ flex: 1, background: '#F7F9FC', border: '1px solid #D6DCE5', borderRadius: 6, padding: '14px 18px', flexDirection: 'column', justifyContent: 'center', gap: 6 }}&gt;&#10;                    &lt;Text style={{ fontSize: 15, fontWeight: 'bold', color: '#1E4FA8', letterSpacing: 1 }}&gt;为什么要把区间写出来&lt;/Text&gt;&#10;                    &lt;Text style={{ fontSize: 16, color: '#4A5568', lineHeight: 1.45 }}&gt;我早期的笔记里只有一个数：约 5.6 万 token，讲稿占 76%。后来把全部样本统计了一遍才发现，那只是一个幻灯片一次都没返工的样本。幻灯片一旦要改，总花费接近翻倍，占比结构也跟着变。所以我把它改成了区间。&lt;/Text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数据来源：各任务的 token.json，按&quot;幻灯片桶 + 讲稿桶&quot;统计&lt;/Text&gt;&#10;        &lt;Text style={{ fontSize: 16, fontWeight: 'bold', color: '#0E3F8C' }}&gt;08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0629900" y="247650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核心功能</a:t>
            </a:r>
            <a:r>
              <a:rPr lang="en-US" sz="1200" spc="150">
                <a:solidFill>
                  <a:srgbClr val="8FB6E8"/>
                </a:solidFill>
                <a:latin typeface="Microsoft YaHei"/>
                <a:ea typeface="Microsoft YaHei"/>
              </a:rPr>
              <a:t> 3 / 3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网页能点，钱花得明白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219575" y="1028700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命令行没人会用，所以包了一层网页；同时把花钱的两步缓存起来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428625" y="1485900"/>
            <a:ext cx="3495675" cy="4686300"/>
          </a:xfrm>
          <a:prstGeom prst="roundRect">
            <a:avLst>
              <a:gd name="adj" fmla="val 163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428625" y="1485900"/>
            <a:ext cx="3495675" cy="4686300"/>
          </a:xfrm>
          <a:custGeom>
            <a:pathLst>
              <a:path w="367" h="4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91"/>
                </a:lnTo>
                <a:cubicBezTo>
                  <a:pt x="5" y="492"/>
                  <a:pt x="5" y="492"/>
                  <a:pt x="6" y="492"/>
                </a:cubicBezTo>
                <a:cubicBezTo>
                  <a:pt x="3" y="492"/>
                  <a:pt x="0" y="489"/>
                  <a:pt x="0" y="4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76275" y="177165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1E4FA8"/>
                </a:solidFill>
                <a:latin typeface="Microsoft YaHei"/>
                <a:ea typeface="Microsoft YaHei"/>
              </a:rPr>
              <a:t>讲稿在总花费里的占比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76275" y="2019300"/>
            <a:ext cx="3000375" cy="9144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700" b="1">
                <a:solidFill>
                  <a:srgbClr val="0E3F8C"/>
                </a:solidFill>
                <a:latin typeface="Microsoft YaHei"/>
                <a:ea typeface="Microsoft YaHei"/>
              </a:rPr>
              <a:t>37–76%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76275" y="3009900"/>
            <a:ext cx="3000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幻灯片返工越多，这个比例越低——钱转移到了幻灯片那一侧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76275" y="5162550"/>
            <a:ext cx="3000375" cy="9525"/>
          </a:xfrm>
          <a:prstGeom prst="rect">
            <a:avLst/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76275" y="52482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一篇论文的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API token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总量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76275" y="5581650"/>
            <a:ext cx="3000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4.8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万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 – 10.9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152900" y="1485900"/>
            <a:ext cx="7429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整条链路只有两步要联网花钱：把正文结构化成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LaTeX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工程，以及看幻灯片写讲稿。这两步的产物都按输入指纹存下来了，同一份论文同参数重跑，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API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费用为零。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152900" y="2238375"/>
            <a:ext cx="7429500" cy="2286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graphicFrame>
        <p:nvGraphicFramePr>
          <p:cNvPr id="368" name="368"/>
          <p:cNvGraphicFramePr/>
          <p:nvPr/>
        </p:nvGraphicFramePr>
        <p:xfrm rot="0" flipH="0" flipV="0">
          <a:off x="4267200" y="2314575"/>
          <a:ext cx="7200900" cy="21336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369" name=""/>
          <p:cNvSpPr/>
          <p:nvPr/>
        </p:nvSpPr>
        <p:spPr>
          <a:xfrm rot="0" flipH="0" flipV="0">
            <a:off x="4152900" y="4657725"/>
            <a:ext cx="7429500" cy="1514475"/>
          </a:xfrm>
          <a:prstGeom prst="roundRect">
            <a:avLst>
              <a:gd name="adj" fmla="val 377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324350" y="4905375"/>
            <a:ext cx="708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Microsoft YaHei"/>
                <a:ea typeface="Microsoft YaHei"/>
              </a:rPr>
              <a:t>为什么要把区间写出来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324350" y="5133975"/>
            <a:ext cx="70866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我早期的笔记里只有一个数：约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5.6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token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，讲稿占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76%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。后来把全部样本统计了一遍才发现，那只是一个幻灯片一次都没返工的样本。幻灯片一旦要改，总花费接近翻倍，占比结构也跟着变。所以我把它改成了区间。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667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数据来源：各任务的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token.json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幻灯片桶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讲稿桶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统计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74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难点 1 / 4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数字人换了三次&lt;/Text&gt;&#10;            &lt;Text style={{ fontSize: 17, color: '#8B97A8', marginLeft: 6 }}&gt;论文用的那个，在这张卡上一步都走不动&lt;/Text&gt;&#10;        &lt;/Box&gt;&#10;&#10;        &lt;Box style={{ height: 492, flexDirection: 'row', gap: 24 }}&gt;&#10;            &lt;Box style={{ width: 660, height: 492, flexDirection: 'column', gap: 12 }}&gt;&#10;                &lt;Box style={{ width: 660, height: 316, flexDirection: 'row', gap: 22 }}&gt;&#10;                    &lt;Box style={{ width: 205, height: 316, background: '#F7F9FC', border: '1px solid #D6DCE5', borderRadius: 6, padding: 4 }}&gt;&#10;                        &lt;Image src='assets/dh_frame_00.png' style={{ width: 195, height: 306, objectFit: 'cover' }} /&gt;&#10;                    &lt;/Box&gt;&#10;                    &lt;Box style={{ width: 205, height: 316, background: '#F7F9FC', border: '1px solid #D6DCE5', borderRadius: 6, padding: 4 }}&gt;&#10;                        &lt;Image src='assets/dh_frame_06.png' style={{ width: 195, height: 306, objectFit: 'cover' }} /&gt;&#10;                    &lt;/Box&gt;&#10;                    &lt;Box style={{ width: 205, height: 316, background: '#F7F9FC', border: '1px solid #D6DCE5', borderRadius: 6, padding: 4 }}&gt;&#10;                        &lt;Image src='assets/dh_frame_14.png' style={{ width: 195, height: 306, objectFit: 'cover' }} /&gt;&#10;                    &lt;/Box&gt;&#10;                &lt;/Box&gt;&#10;&#10;                &lt;Text style={{ fontSize: 14, color: '#8B97A8', lineHeight: 1.4 }}&gt;从本机跑出来的数字人片段里抽的帧：第 1 页、第 7 页、第 15 页。是产物，不是效果图。&lt;/Text&gt;&#10;&#10;                &lt;Box style={{ flex: 1, background: '#E8EFF8', borderLeft: '4px solid #1E4FA8', borderRadius: 4, padding: '14px 18px', flexDirection: 'row', alignItems: 'center', gap: 26 }}&gt;&#10;                    &lt;Box style={{ flexDirection: 'column', gap: 2 }}&gt;&#10;                        &lt;Text style={{ fontSize: 44, fontWeight: 'bold', color: '#0E3F8C', lineHeight: 1.05 }}&gt;3.8GB&lt;/Text&gt;&#10;                        &lt;Text style={{ fontSize: 14, color: '#4A5568' }}&gt;最终模型的权重体积&lt;/Text&gt;&#10;                    &lt;/Box&gt;&#10;                    &lt;Box style={{ width: 1, height: 58, background: '#B5D4F4' }} /&gt;&#10;                    &lt;Box style={{ flexDirection: 'column', gap: 2 }}&gt;&#10;                        &lt;Text style={{ fontSize: 44, fontWeight: 'bold', color: '#0E3F8C', lineHeight: 1.05 }}&gt;1024&lt;/Text&gt;&#10;                        &lt;Text style={{ fontSize: 14, color: '#4A5568' }}&gt;注意力序列长度，比上一代小约 1270 倍&lt;/Text&gt;&#10;                    &lt;/Box&gt;&#10;                &lt;/Box&gt;&#10;            &lt;/Box&gt;&#10;&#10;            &lt;Box style={{ width: 516, height: 492, flexDirection: 'column', gap: 12 }}&gt;&#10;                &lt;Text style={{ fontSize: 18, color: '#1A2230', lineHeight: 1.45 }}&gt;为了把数字人跑起来，我换过三次模型。每一次都是被一个具体的障碍挡下来的。&lt;/Text&gt;&#10;&#10;                &lt;Box style={{ height: 306, flexDirection: 'column', gap: 8 }}&gt;&#10;                    &lt;Box style={{ flex: 1, flexDirection: 'row', gap: 12, alignItems: 'flex-start' }}&gt;&#10;                        &lt;Box style={{ width: 24, height: 24, background: '#8B97A8', borderRadius: 4, alignItems: 'center', justifyContent: 'center' }}&gt;&#10;                            &lt;Text style={{ fontSize: 14, fontWeight: 'bold', color: '#FFFFFF' }}&gt;1&lt;/Text&gt;&#10;                        &lt;/Box&gt;&#10;                        &lt;Box style={{ flex: 1, flexDirection: 'column', gap: 2 }}&gt;&#10;                            &lt;Text style={{ fontSize: 18, fontWeight: 'bold', color: '#1A2230' }}&gt;Hallo2 · 论文原方案&lt;/Text&gt;&#10;                            &lt;Text style={{ fontSize: 15, color: '#4A5568', lineHeight: 1.4 }}&gt;锁死 CUDA 11.8，编译目标里根本没有这台卡，直接出局&lt;/Text&gt;&#10;                        &lt;/Box&gt;&#10;                    &lt;/Box&gt;&#10;&#10;                    &lt;Box style={{ flex: 1, flexDirection: 'row', gap: 12, alignItems: 'flex-start' }}&gt;&#10;                        &lt;Box style={{ width: 24, height: 24, background: '#8B97A8', borderRadius: 4, alignItems: 'center', justifyContent: 'center' }}&gt;&#10;                            &lt;Text style={{ fontSize: 14, fontWeight: 'bold', color: '#FFFFFF' }}&gt;2&lt;/Text&gt;&#10;                        &lt;/Box&gt;&#10;                        &lt;Box style={{ flex: 1, flexDirection: 'column', gap: 2 }}&gt;&#10;                            &lt;Text style={{ fontSize: 18, fontWeight: 'bold', color: '#1A2230' }}&gt;InfiniteTalk&lt;/Text&gt;&#10;                            &lt;Text style={{ fontSize: 15, color: '#4A5568', lineHeight: 1.4 }}&gt;用 fp8 加载会触发算子现场编译，而本机编译器不认识新的计算能力代号&lt;/Text&gt;&#10;                        &lt;/Box&gt;&#10;                    &lt;/Box&gt;&#10;&#10;                    &lt;Box style={{ flex: 1, flexDirection: 'row', gap: 12, alignItems: 'flex-start' }}&gt;&#10;                        &lt;Box style={{ width: 24, height: 24, background: '#8B97A8', borderRadius: 4, alignItems: 'center', justifyContent: 'center' }}&gt;&#10;                            &lt;Text style={{ fontSize: 14, fontWeight: 'bold', color: '#FFFFFF' }}&gt;3&lt;/Text&gt;&#10;                        &lt;/Box&gt;&#10;                        &lt;Box style={{ flex: 1, flexDirection: 'column', gap: 2 }}&gt;&#10;                            &lt;Text style={{ fontSize: 18, fontWeight: 'bold', color: '#1A2230' }}&gt;LongCat-Video-Avatar&lt;/Text&gt;&#10;                            &lt;Text style={{ fontSize: 15, color: '#4A5568', lineHeight: 1.4 }}&gt;不用现场编译了，但权重 41.7GB、依赖一个装不上的注意力库，单卡放不下&lt;/Text&gt;&#10;                        &lt;/Box&gt;&#10;                    &lt;/Box&gt;&#10;&#10;                    &lt;Box style={{ flex: 1, flexDirection: 'row', gap: 12, alignItems: 'flex-start' }}&gt;&#10;                        &lt;Box style={{ width: 24, height: 24, background: '#1E4FA8', borderRadius: 4, alignItems: 'center', justifyContent: 'center' }}&gt;&#10;                            &lt;Text style={{ fontSize: 14, fontWeight: 'bold', color: '#FFFFFF' }}&gt;4&lt;/Text&gt;&#10;                        &lt;/Box&gt;&#10;                        &lt;Box style={{ flex: 1, flexDirection: 'column', gap: 2 }}&gt;&#10;                            &lt;Text style={{ fontSize: 18, fontWeight: 'bold', color: '#0E3F8C' }}&gt;MuseTalk · 现在用的&lt;/Text&gt;&#10;                            &lt;Text style={{ fontSize: 15, color: '#4A5568', lineHeight: 1.4 }}&gt;只做人脸那 256×256 一块，注意力序列短了三个数量级，用标准实现就够&lt;/Text&gt;&#10;                        &lt;/Box&gt;&#10;                    &lt;/Box&gt;&#10;                &lt;/Box&gt;&#10;&#10;                &lt;Box style={{ flex: 1, background: '#F7F9FC', border: '1px solid #D6DCE5', borderRadius: 6, padding: '12px 16px', flexDirection: 'column', justifyContent: 'center', gap: 4 }}&gt;&#10;                    &lt;Text style={{ fontSize: 15, fontWeight: 'bold', color: '#1E4FA8', letterSpacing: 1 }}&gt;代价说清楚&lt;/Text&gt;&#10;                    &lt;Text style={{ fontSize: 15, color: '#4A5568', lineHeight: 1.45 }}&gt;这三次不是反复试错，是障碍一个一个被排除。MuseTalk 只做头部，画质不如论文原来那个——这是换来的代价。&lt;/Text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序列长度对比：LongCat 36480 → MuseTalk 1024&lt;/Text&gt;&#10;        &lt;Text style={{ fontSize: 16, fontWeight: 'bold', color: '#0E3F8C' }}&gt;09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0972800" y="2476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难点</a:t>
            </a:r>
            <a:r>
              <a:rPr lang="en-US" sz="1200" spc="150">
                <a:solidFill>
                  <a:srgbClr val="8FB6E8"/>
                </a:solidFill>
                <a:latin typeface="Microsoft YaHei"/>
                <a:ea typeface="Microsoft YaHei"/>
              </a:rPr>
              <a:t> 1 / 4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数字人换了三次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190875" y="102870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论文用的那个，在这张卡上一步都走不动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81000" y="1485900"/>
            <a:ext cx="1952625" cy="3009900"/>
          </a:xfrm>
          <a:prstGeom prst="roundRect">
            <a:avLst>
              <a:gd name="adj" fmla="val 292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83" name=""/>
          <p:cNvPicPr>
            <a:picLocks noChangeAspect="1"/>
          </p:cNvPicPr>
          <p:nvPr/>
        </p:nvPicPr>
        <p:blipFill>
          <a:blip r:embed="rId1"/>
          <a:srcRect l="980" t="0" r="980" b="0"/>
          <a:stretch>
            <a:fillRect/>
          </a:stretch>
        </p:blipFill>
        <p:spPr>
          <a:xfrm rot="0" flipH="0" flipV="0">
            <a:off x="419100" y="1524000"/>
            <a:ext cx="1857375" cy="2914650"/>
          </a:xfrm>
          <a:prstGeom prst="rect">
            <a:avLst/>
          </a:prstGeom>
          <a:ln/>
        </p:spPr>
      </p:pic>
      <p:sp>
        <p:nvSpPr>
          <p:cNvPr id="384" name=""/>
          <p:cNvSpPr/>
          <p:nvPr/>
        </p:nvSpPr>
        <p:spPr>
          <a:xfrm rot="0" flipH="0" flipV="0">
            <a:off x="2543175" y="1485900"/>
            <a:ext cx="1952625" cy="3009900"/>
          </a:xfrm>
          <a:prstGeom prst="roundRect">
            <a:avLst>
              <a:gd name="adj" fmla="val 292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85" name=""/>
          <p:cNvPicPr>
            <a:picLocks noChangeAspect="1"/>
          </p:cNvPicPr>
          <p:nvPr/>
        </p:nvPicPr>
        <p:blipFill>
          <a:blip r:embed="rId2"/>
          <a:srcRect l="980" t="0" r="980" b="0"/>
          <a:stretch>
            <a:fillRect/>
          </a:stretch>
        </p:blipFill>
        <p:spPr>
          <a:xfrm rot="0" flipH="0" flipV="0">
            <a:off x="2581275" y="1524000"/>
            <a:ext cx="1857375" cy="2914650"/>
          </a:xfrm>
          <a:prstGeom prst="rect">
            <a:avLst/>
          </a:prstGeom>
          <a:ln/>
        </p:spPr>
      </p:pic>
      <p:sp>
        <p:nvSpPr>
          <p:cNvPr id="386" name=""/>
          <p:cNvSpPr/>
          <p:nvPr/>
        </p:nvSpPr>
        <p:spPr>
          <a:xfrm rot="0" flipH="0" flipV="0">
            <a:off x="4705350" y="1485900"/>
            <a:ext cx="1952625" cy="3009900"/>
          </a:xfrm>
          <a:prstGeom prst="roundRect">
            <a:avLst>
              <a:gd name="adj" fmla="val 292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87" name=""/>
          <p:cNvPicPr>
            <a:picLocks noChangeAspect="1"/>
          </p:cNvPicPr>
          <p:nvPr/>
        </p:nvPicPr>
        <p:blipFill>
          <a:blip r:embed="rId3"/>
          <a:srcRect l="980" t="0" r="980" b="0"/>
          <a:stretch>
            <a:fillRect/>
          </a:stretch>
        </p:blipFill>
        <p:spPr>
          <a:xfrm rot="0" flipH="0" flipV="0">
            <a:off x="4743450" y="1524000"/>
            <a:ext cx="1857375" cy="2914650"/>
          </a:xfrm>
          <a:prstGeom prst="rect">
            <a:avLst/>
          </a:prstGeom>
          <a:ln/>
        </p:spPr>
      </p:pic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381000" y="461010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从本机跑出来的数字人片段里抽的帧：第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页、第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7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页、第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15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页。是产物，不是效果图。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19100" y="4953000"/>
            <a:ext cx="6286500" cy="1219200"/>
          </a:xfrm>
          <a:prstGeom prst="roundRect">
            <a:avLst>
              <a:gd name="adj" fmla="val 312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419100" y="4953000"/>
            <a:ext cx="6286500" cy="1219200"/>
          </a:xfrm>
          <a:custGeom>
            <a:pathLst>
              <a:path w="660" h="128">
                <a:moveTo>
                  <a:pt x="4" y="128"/>
                </a:moveTo>
                <a:cubicBezTo>
                  <a:pt x="2" y="128"/>
                  <a:pt x="0" y="126"/>
                  <a:pt x="0" y="12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90550" y="5210175"/>
            <a:ext cx="1247775" cy="5334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>3.8GB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90550" y="57626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最终模型的权重体积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2085975" y="5286375"/>
            <a:ext cx="9525" cy="552450"/>
          </a:xfrm>
          <a:prstGeom prst="rect">
            <a:avLst/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343150" y="5210175"/>
            <a:ext cx="2400300" cy="5334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>1024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2343150" y="57626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注意力序列长度，比上一代小约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1270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896100" y="1485900"/>
            <a:ext cx="49149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为了把数字人跑起来，我换过三次模型。每一次都是被一个具体的障碍挡下来的。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896100" y="22002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972300" y="22383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239000" y="220027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Hallo2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论文原方案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239000" y="2428875"/>
            <a:ext cx="4572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锁死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CUDA 11.8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，编译目标里根本没有这台卡，直接出局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896100" y="27717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972300" y="2809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239000" y="277177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InfiniteTalk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239000" y="3000375"/>
            <a:ext cx="4572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fp8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加载会触发算子现场编译，而本机编译器不认识新的计算能力代号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896100" y="35814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972300" y="36195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239000" y="3581400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LongCat-Video-Avatar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239000" y="3810000"/>
            <a:ext cx="4572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不用现场编译了，但权重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41.7GB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、依赖一个装不上的注意力库，单卡放不下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896100" y="43815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972300" y="44196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239000" y="4381500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MuseTalk ·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现在用的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239000" y="4610100"/>
            <a:ext cx="4572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只做人脸那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256×256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一块，注意力序列短了三个数量级，用标准实现就够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896100" y="5229225"/>
            <a:ext cx="4914900" cy="942975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048500" y="534352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Microsoft YaHei"/>
                <a:ea typeface="Microsoft YaHei"/>
              </a:rPr>
              <a:t>代价说清楚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048500" y="5553075"/>
            <a:ext cx="4610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这三次不是反复试错，是障碍一个一个被排除。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MuseTalk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只做头部，画质不如论文原来那个——这是换来的代价。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序列长度对比：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LongCat 36480 → MuseTalk 1024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难点 2 / 4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论文的核心机制，在我这儿空转了&lt;/Text&gt;&#10;        &lt;/Box&gt;&#10;&#10;        &lt;Box style={{ height: 492, flexDirection: 'row', gap: 24 }}&gt;&#10;            &lt;Box style={{ width: 700, height: 492, flexDirection: 'column', gap: 12 }}&gt;&#10;                &lt;Box style={{ height: 340, flexDirection: 'row', gap: 20 }}&gt;&#10;                    &lt;Box style={{ width: 340, height: 340, background: '#F7F9FC', border: '1px solid #D6DCE5', borderRadius: 6, padding: 8 }}&gt;&#10;                        &lt;Image src='assets/tree_merged.png' style={{ width: 324, height: 324, objectFit: 'contain' }} /&gt;&#10;                    &lt;/Box&gt;&#10;                    &lt;Box style={{ width: 340, height: 340, flexDirection: 'column', gap: 10, justifyContent: 'center' }}&gt;&#10;                        &lt;Text style={{ fontSize: 20, fontWeight: 'bold', color: '#1E4FA8' }}&gt;VLM 看到的就是这张图&lt;/Text&gt;&#10;                        &lt;Text style={{ fontSize: 15, color: '#4A5568', lineHeight: 1.45 }}&gt;四个象限是同一页的四个版本：图片宽度分别是 0.25、0.5、0.75、1.0。规则负责生成候选，模型只负责挑一个。&lt;/Text&gt;&#10;                        &lt;Box style={{ background: '#F7F9FC', border: '1px solid #D6DCE5', borderRadius: 4, padding: '10px 12px' }}&gt;&#10;                            &lt;Text style={{ fontSize: 14, color: '#0E3F8C', lineHeight: 1.45, fontFamily: &quot;'Consolas', 'Courier New', monospace&quot; }}&gt;reason: 「A、B 把右侧轴裁掉了；C 的标签顶到边缘出现截断；D 把所有元素和图注都完整保留」  choice: 「D」&lt;/Text&gt;&#10;                        &lt;/Box&gt;&#10;                        &lt;Text style={{ fontSize: 13, color: '#8B97A8' }}&gt;论文里 VLM 返回的判定，格式就是这样的 JSON&lt;/Text&gt;&#10;                    &lt;/Box&gt;&#10;                &lt;/Box&gt;&#10;&#10;                &lt;Box style={{ flex: 1, flexDirection: 'column', gap: 6 }}&gt;&#10;                    &lt;Box style={{ width: 700, height: 110, background: '#F7F9FC', border: '1px solid #D6DCE5', borderRadius: 6, padding: 6 }}&gt;&#10;                        &lt;Image src='assets/tree_candidates_strip.png' style={{ width: 688, height: 98, objectFit: 'contain' }} /&gt;&#10;                    &lt;/Box&gt;&#10;                    &lt;Text style={{ fontSize: 13, color: '#8B97A8' }}&gt;四个宽度候选的原始渲染（0.25 / 0.5 / 0.75 / 1.0），本机跑出来的真实文件&lt;/Text&gt;&#10;                &lt;/Box&gt;&#10;            &lt;/Box&gt;&#10;&#10;            &lt;Box style={{ width: 476, height: 492, flexDirection: 'column', gap: 12 }}&gt;&#10;                &lt;Text style={{ fontSize: 17, color: '#1A2230', lineHeight: 1.5 }}&gt;我在界面上打开了这个开关，觉得出片很快，就去后台查它到底有没有干活。结论是：开关生效了，代码也执行了，但一页都没改进过。&lt;/Text&gt;&#10;&#10;                &lt;Box style={{ height: 154, background: '#FCEBEB', borderLeft: '4px solid #D9534F', borderRadius: 4, padding: '14px 16px', flexDirection: 'column', gap: 6 }}&gt;&#10;                    &lt;Text style={{ fontSize: 15, fontWeight: 'bold', color: '#A32D2D', letterSpacing: 1 }}&gt;差点被骗过去的地方&lt;/Text&gt;&#10;                    &lt;Text style={{ fontSize: 15, color: '#1A2230', lineHeight: 1.45 }}&gt;这个函数会无条件重写一份改进版的幻灯片源码。所以&quot;产物变了&quot;&quot;出现了新文件&quot;都不能当证据。可靠的判据只有一个：它工作时产生的那个目录空不空。&lt;/Text&gt;&#10;                &lt;/Box&gt;&#10;&#10;                &lt;Box style={{ flex: 1, background: '#F7F9FC', border: '1px solid #D6DCE5', borderRadius: 6, padding: '16px 18px', flexDirection: 'column', justifyContent: 'space-between' }}&gt;&#10;                    &lt;Text style={{ fontSize: 15, fontWeight: 'bold', color: '#1E4FA8', letterSpacing: 1 }}&gt;同一个机制，两个结果&lt;/Text&gt;&#10;                    &lt;Box style={{ flexDirection: 'row', alignItems: 'center', gap: 24 }}&gt;&#10;                        &lt;Box style={{ flexDirection: 'column', gap: 2 }}&gt;&#10;                            &lt;Text style={{ fontSize: 46, fontWeight: 'bold', color: '#1E4FA8', lineHeight: 1.05 }}&gt;7 次&lt;/Text&gt;&#10;                            &lt;Text style={{ fontSize: 14, color: '#4A5568', lineHeight: 1.4 }}&gt;跑论文自带的工程时&lt;br /&gt;真实发生的 VLM 调用&lt;/Text&gt;&#10;                        &lt;/Box&gt;&#10;                        &lt;Box style={{ width: 1, height: 76, background: '#B5D4F4' }} /&gt;&#10;                        &lt;Box style={{ flexDirection: 'column', gap: 2 }}&gt;&#10;                            &lt;Text style={{ fontSize: 46, fontWeight: 'bold', color: '#8B97A8', lineHeight: 1.05 }}&gt;0 次&lt;/Text&gt;&#10;                            &lt;Text style={{ fontSize: 14, color: '#4A5568', lineHeight: 1.4 }}&gt;换成只看正文的&lt;br /&gt;PDF 链路之后&lt;/Text&gt;&#10;                        &lt;/Box&gt;&#10;                    &lt;/Box&gt;&#10;                    &lt;Text style={{ fontSize: 15, color: '#4A5568', lineHeight: 1.45 }}&gt;它的入选门槛是&quot;排版溢出的页，而且那一页得有图片&quot;。我们的工程里一张图都没有，所以它一次都没被触发。&lt;/Text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所以上一页那件事不是锦上添花，是这条机制能不能存在的前提&lt;/Text&gt;&#10;        &lt;Text style={{ fontSize: 16, fontWeight: 'bold', color: '#0E3F8C' }}&gt;10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972800" y="2476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难点</a:t>
            </a:r>
            <a:r>
              <a:rPr lang="en-US" sz="1200" spc="150">
                <a:solidFill>
                  <a:srgbClr val="8FB6E8"/>
                </a:solidFill>
                <a:latin typeface="Microsoft YaHei"/>
                <a:ea typeface="Microsoft YaHei"/>
              </a:rPr>
              <a:t> 2 / 4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5143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论文的核心机制，在我这儿空转了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381000" y="1485900"/>
            <a:ext cx="3238500" cy="3238500"/>
          </a:xfrm>
          <a:prstGeom prst="roundRect">
            <a:avLst>
              <a:gd name="adj" fmla="val 17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457200" y="1562100"/>
            <a:ext cx="3086100" cy="3086100"/>
          </a:xfrm>
          <a:prstGeom prst="rect">
            <a:avLst/>
          </a:prstGeom>
          <a:ln/>
        </p:spPr>
      </p:pic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810000" y="195262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VLM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看到的就是这张图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810000" y="2276475"/>
            <a:ext cx="3238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四个象限是同一页的四个版本：图片宽度分别是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0.25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0.5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0.75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1.0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。规则负责生成候选，模型只负责挑一个。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3810000" y="3124200"/>
            <a:ext cx="3238500" cy="89535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924300" y="3219450"/>
            <a:ext cx="3009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0E3F8C"/>
                </a:solidFill>
                <a:latin typeface="Consolas"/>
                <a:ea typeface="Consolas"/>
              </a:rPr>
              <a:t>reason: </a:t>
            </a:r>
            <a:r>
              <a:rPr lang="zh-CN" sz="1050">
                <a:solidFill>
                  <a:srgbClr val="0E3F8C"/>
                </a:solidFill>
                <a:latin typeface="Consolas"/>
                <a:ea typeface="Consolas"/>
              </a:rPr>
              <a:t>「</a:t>
            </a:r>
            <a:r>
              <a:rPr lang="en-US" sz="1050">
                <a:solidFill>
                  <a:srgbClr val="0E3F8C"/>
                </a:solidFill>
                <a:latin typeface="Consolas"/>
                <a:ea typeface="Consolas"/>
              </a:rPr>
              <a:t>A</a:t>
            </a:r>
            <a:r>
              <a:rPr lang="zh-CN" sz="1050">
                <a:solidFill>
                  <a:srgbClr val="0E3F8C"/>
                </a:solidFill>
                <a:latin typeface="Consolas"/>
                <a:ea typeface="Consolas"/>
              </a:rPr>
              <a:t>、</a:t>
            </a:r>
            <a:r>
              <a:rPr lang="en-US" sz="1050">
                <a:solidFill>
                  <a:srgbClr val="0E3F8C"/>
                </a:solidFill>
                <a:latin typeface="Consolas"/>
                <a:ea typeface="Consolas"/>
              </a:rPr>
              <a:t>B </a:t>
            </a:r>
            <a:r>
              <a:rPr lang="zh-CN" sz="1050">
                <a:solidFill>
                  <a:srgbClr val="0E3F8C"/>
                </a:solidFill>
                <a:latin typeface="Consolas"/>
                <a:ea typeface="Consolas"/>
              </a:rPr>
              <a:t>把右侧轴裁掉了；</a:t>
            </a:r>
            <a:r>
              <a:rPr lang="en-US" sz="1050">
                <a:solidFill>
                  <a:srgbClr val="0E3F8C"/>
                </a:solidFill>
                <a:latin typeface="Consolas"/>
                <a:ea typeface="Consolas"/>
              </a:rPr>
              <a:t>C </a:t>
            </a:r>
            <a:r>
              <a:rPr lang="zh-CN" sz="1050">
                <a:solidFill>
                  <a:srgbClr val="0E3F8C"/>
                </a:solidFill>
                <a:latin typeface="Consolas"/>
                <a:ea typeface="Consolas"/>
              </a:rPr>
              <a:t>的标签顶到边缘出现截断；</a:t>
            </a:r>
            <a:r>
              <a:rPr lang="en-US" sz="1050">
                <a:solidFill>
                  <a:srgbClr val="0E3F8C"/>
                </a:solidFill>
                <a:latin typeface="Consolas"/>
                <a:ea typeface="Consolas"/>
              </a:rPr>
              <a:t>D </a:t>
            </a:r>
            <a:r>
              <a:rPr lang="zh-CN" sz="1050">
                <a:solidFill>
                  <a:srgbClr val="0E3F8C"/>
                </a:solidFill>
                <a:latin typeface="Consolas"/>
                <a:ea typeface="Consolas"/>
              </a:rPr>
              <a:t>把所有元素和图注都完整保留」</a:t>
            </a:r>
            <a:r>
              <a:rPr lang="en-US" sz="1050">
                <a:solidFill>
                  <a:srgbClr val="0E3F8C"/>
                </a:solidFill>
                <a:latin typeface="Consolas"/>
                <a:ea typeface="Consolas"/>
              </a:rPr>
              <a:t>  choice: </a:t>
            </a:r>
            <a:r>
              <a:rPr lang="zh-CN" sz="1050">
                <a:solidFill>
                  <a:srgbClr val="0E3F8C"/>
                </a:solidFill>
                <a:latin typeface="Consolas"/>
                <a:ea typeface="Consolas"/>
              </a:rPr>
              <a:t>「</a:t>
            </a:r>
            <a:r>
              <a:rPr lang="en-US" sz="1050">
                <a:solidFill>
                  <a:srgbClr val="0E3F8C"/>
                </a:solidFill>
                <a:latin typeface="Consolas"/>
                <a:ea typeface="Consolas"/>
              </a:rPr>
              <a:t>D</a:t>
            </a:r>
            <a:r>
              <a:rPr lang="zh-CN" sz="1050">
                <a:solidFill>
                  <a:srgbClr val="0E3F8C"/>
                </a:solidFill>
                <a:latin typeface="Consolas"/>
                <a:ea typeface="Consolas"/>
              </a:rPr>
              <a:t>」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810000" y="411480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论文里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VLM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返回的判定，格式就是这样的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JSON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381000" y="4838700"/>
            <a:ext cx="6667500" cy="104775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Id2"/>
          <a:srcRect l="0" t="11160" r="0" b="11160"/>
          <a:stretch>
            <a:fillRect/>
          </a:stretch>
        </p:blipFill>
        <p:spPr>
          <a:xfrm rot="0" flipH="0" flipV="0">
            <a:off x="438150" y="4895850"/>
            <a:ext cx="6553200" cy="93345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81000" y="5943600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四个宽度候选的原始渲染（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0.25 / 0.5 / 0.75 / 1.0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），本机跑出来的真实文件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277100" y="1485900"/>
            <a:ext cx="45339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我在界面上打开了这个开关，觉得出片很快，就去后台查它到底有没有干活。结论是：开关生效了，代码也执行了，但一页都没改进过。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315200" y="2476500"/>
            <a:ext cx="4533900" cy="1466850"/>
          </a:xfrm>
          <a:prstGeom prst="roundRect">
            <a:avLst>
              <a:gd name="adj" fmla="val 2597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7315200" y="2476500"/>
            <a:ext cx="4533900" cy="1466850"/>
          </a:xfrm>
          <a:custGeom>
            <a:pathLst>
              <a:path w="476" h="154">
                <a:moveTo>
                  <a:pt x="4" y="154"/>
                </a:moveTo>
                <a:cubicBezTo>
                  <a:pt x="2" y="154"/>
                  <a:pt x="0" y="152"/>
                  <a:pt x="0" y="15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467600" y="260985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A32D2D"/>
                </a:solidFill>
                <a:latin typeface="Microsoft YaHei"/>
                <a:ea typeface="Microsoft YaHei"/>
              </a:rPr>
              <a:t>差点被骗过去的地方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467600" y="2838450"/>
            <a:ext cx="41910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这个函数会无条件重写一份改进版的幻灯片源码。所以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产物变了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出现了新文件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都不能当证据。可靠的判据只有一个：它工作时产生的那个目录空不空。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277100" y="4057650"/>
            <a:ext cx="4533900" cy="211455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448550" y="421005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Microsoft YaHei"/>
                <a:ea typeface="Microsoft YaHei"/>
              </a:rPr>
              <a:t>同一个机制，两个结果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48550" y="4438650"/>
            <a:ext cx="1304925" cy="5524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7 </a:t>
            </a:r>
            <a:r>
              <a:rPr lang="zh-CN" sz="3450" b="1">
                <a:solidFill>
                  <a:srgbClr val="1E4FA8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48550" y="5010150"/>
            <a:ext cx="1304925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跑论文自带的工程时</a:t>
            </a:r>
            <a:endParaRPr/>
          </a:p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真实发生的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VLM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调用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982075" y="4591050"/>
            <a:ext cx="9525" cy="723900"/>
          </a:xfrm>
          <a:prstGeom prst="rect">
            <a:avLst/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220200" y="4438650"/>
            <a:ext cx="933450" cy="5524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450" b="1">
                <a:solidFill>
                  <a:srgbClr val="8B97A8"/>
                </a:solidFill>
                <a:latin typeface="Microsoft YaHei"/>
                <a:ea typeface="Microsoft YaHei"/>
              </a:rPr>
              <a:t>0 </a:t>
            </a:r>
            <a:r>
              <a:rPr lang="zh-CN" sz="3450" b="1">
                <a:solidFill>
                  <a:srgbClr val="8B97A8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220200" y="5010150"/>
            <a:ext cx="93345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换成只看正文的</a:t>
            </a:r>
            <a:endParaRPr/>
          </a:p>
          <a:p>
            <a:pPr>
              <a:lnSpc>
                <a:spcPct val="14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PDF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链路之后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448550" y="5514975"/>
            <a:ext cx="4191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它的入选门槛是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排版溢出的页，而且那一页得有图片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。我们的工程里一张图都没有，所以它一次都没被触发。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所以上一页那件事不是锦上添花，是这条机制能不能存在的前提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45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难点 3 / 4&lt;/Text&gt;&#10;    &lt;/Box&gt;&#10;&#10;    &lt;Box style={{ flex: 1, flexDirection: 'column', padding: '24px 40px', gap: 14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单卡 16GB 的连锁反应&lt;/Text&gt;&#10;        &lt;/Box&gt;&#10;&#10;        &lt;Box style={{ height: 56, background: '#E8EFF8', borderLeft: '4px solid #1E4FA8', borderRadius: 4, padding: '0 20px', flexDirection: 'row', alignItems: 'center', gap: 16 }}&gt;&#10;            &lt;Text style={{ fontSize: 15, fontWeight: 'bold', color: '#1E4FA8', letterSpacing: 1 }}&gt;先问一句&lt;/Text&gt;&#10;            &lt;Text style={{ fontSize: 19, color: '#1A2230' }}&gt;一条论文从结构化到出片，本机实测 27.2 分钟。时间到底花在哪一步？&lt;/Text&gt;&#10;        &lt;/Box&gt;&#10;&#10;        &lt;Box style={{ height: 290, background: '#F7F9FC', border: '1px solid #D6DCE5', borderRadius: 6, padding: '6px 12px' }}&gt;&#10;            &lt;Chart&#10;                style={{ width: '100%', height: 278 }}&#10;                chartType='barChart'&#10;                barDirection='bar'&#10;                title='各阶段真实耗时（分钟）'&#10;                titleColor='#0E3F8C'&#10;                showLegend={false}&#10;                showDataLabels={true}&#10;                axisColor='#8B97A8'&#10;                dataLabelColor='#1A2230'&#10;                colors={['#1E4FA8']}&#10;                data={[&#10;                    ['阶段', '耗时（分钟）'],&#10;                    ['数字人生成', 10.2],&#10;                    ['语音合成', 7.6],&#10;                    ['光标定位', 3.8],&#10;                    ['合成视频', 1.7],&#10;                    ['结构化正文', 1.4],&#10;                    ['生成幻灯片', 1.3],&#10;                    ['生成讲稿与光标描述', 1.1],&#10;                ]}&#10;            /&gt;&#10;        &lt;/Box&gt;&#10;&#10;        &lt;Box style={{ height: 118, background: '#F7F9FC', border: '1px solid #D6DCE5', borderRadius: 6, padding: '14px 20px', flexDirection: 'row', gap: 24, alignItems: 'center' }}&gt;&#10;            &lt;Box style={{ flexDirection: 'column', gap: 3 }}&gt;&#10;                &lt;Text style={{ fontSize: 40, fontWeight: 'bold', color: '#1E4FA8', lineHeight: 1.05 }}&gt;3.8&lt;/Text&gt;&#10;                &lt;Text style={{ fontSize: 14, color: '#4A5568', lineHeight: 1.35 }}&gt;联网的&lt;br /&gt;分钟数&lt;/Text&gt;&#10;            &lt;/Box&gt;&#10;            &lt;Box style={{ width: 1, height: 66, background: '#D6DCE5' }} /&gt;&#10;            &lt;Box style={{ flexDirection: 'column', gap: 3 }}&gt;&#10;                &lt;Text style={{ fontSize: 40, fontWeight: 'bold', color: '#8B97A8', lineHeight: 1.05 }}&gt;23.3&lt;/Text&gt;&#10;                &lt;Text style={{ fontSize: 14, color: '#4A5568', lineHeight: 1.35 }}&gt;本机 GPU 的&lt;br /&gt;分钟数&lt;/Text&gt;&#10;            &lt;/Box&gt;&#10;            &lt;Box style={{ width: 1, height: 66, background: '#D6DCE5' }} /&gt;&#10;            &lt;Text style={{ flex: 1, fontSize: 16, color: '#1A2230', lineHeight: 1.45 }}&gt;论文用多进程池把各页摊到 8 张卡上并行，每个进程各持一份完整权重——这在单卡上必然爆显存，只能改成串行、按阶段加载再卸载。峰值显存从 24GB 以上压到约 10GB，代价就是那个 6 倍加速我拿不到。搬到多卡服务器上，这个并行应该加回来。&lt;/Text&gt;&#10;        &lt;/Box&gt;&#10;    &lt;/Box&gt;&#10;&#10;    &lt;Box style={{ height: 48, padding: '0 40px', flexDirection: 'row', alignItems: 'center', justifyContent: 'space-between' }}&gt;&#10;        &lt;Text style={{ fontSize: 14, color: '#8B97A8' }}&gt;数据来源：一次完整跑通的任务日志（result 与 job 记录一致）&lt;/Text&gt;&#10;        &lt;Text style={{ fontSize: 16, fontWeight: 'bold', color: '#0E3F8C' }}&gt;11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972800" y="2476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难点</a:t>
            </a:r>
            <a:r>
              <a:rPr lang="en-US" sz="1200" spc="150">
                <a:solidFill>
                  <a:srgbClr val="8FB6E8"/>
                </a:solidFill>
                <a:latin typeface="Microsoft YaHei"/>
                <a:ea typeface="Microsoft YaHei"/>
              </a:rPr>
              <a:t> 3 / 4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35337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单卡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16GB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的连锁反应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19100" y="1466850"/>
            <a:ext cx="11430000" cy="533400"/>
          </a:xfrm>
          <a:prstGeom prst="roundRect">
            <a:avLst>
              <a:gd name="adj" fmla="val 714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419100" y="1466850"/>
            <a:ext cx="11430000" cy="533400"/>
          </a:xfrm>
          <a:custGeom>
            <a:pathLst>
              <a:path w="1200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Microsoft YaHei"/>
                <a:ea typeface="Microsoft YaHei"/>
              </a:rPr>
              <a:t>先问一句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371600" y="1628775"/>
            <a:ext cx="5724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一条论文从结构化到出片，本机实测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27.2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分钟。时间到底花在哪一步？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81000" y="2133600"/>
            <a:ext cx="11430000" cy="2762250"/>
          </a:xfrm>
          <a:prstGeom prst="roundRect">
            <a:avLst>
              <a:gd name="adj" fmla="val 206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graphicFrame>
        <p:nvGraphicFramePr>
          <p:cNvPr id="57" name="57"/>
          <p:cNvGraphicFramePr/>
          <p:nvPr/>
        </p:nvGraphicFramePr>
        <p:xfrm rot="0" flipH="0" flipV="0">
          <a:off x="495300" y="2190750"/>
          <a:ext cx="11201400" cy="26479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58" name=""/>
          <p:cNvSpPr/>
          <p:nvPr/>
        </p:nvSpPr>
        <p:spPr>
          <a:xfrm rot="0" flipH="0" flipV="0">
            <a:off x="381000" y="5029200"/>
            <a:ext cx="11430000" cy="1123950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5114925"/>
            <a:ext cx="581025" cy="4857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3.8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5629275"/>
            <a:ext cx="581025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联网的</a:t>
            </a:r>
            <a:endParaRPr/>
          </a:p>
          <a:p>
            <a:pPr>
              <a:lnSpc>
                <a:spcPct val="13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分钟数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1381125" y="5276850"/>
            <a:ext cx="9525" cy="6286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619250" y="5114925"/>
            <a:ext cx="819150" cy="4857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000" b="1">
                <a:solidFill>
                  <a:srgbClr val="8B97A8"/>
                </a:solidFill>
                <a:latin typeface="Microsoft YaHei"/>
                <a:ea typeface="Microsoft YaHei"/>
              </a:rPr>
              <a:t>23.3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619250" y="5629275"/>
            <a:ext cx="819150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本机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GPU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endParaRPr/>
          </a:p>
          <a:p>
            <a:pPr>
              <a:lnSpc>
                <a:spcPct val="13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分钟数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2667000" y="5276850"/>
            <a:ext cx="9525" cy="6286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905125" y="5324475"/>
            <a:ext cx="87153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论文用多进程池把各页摊到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张卡上并行，每个进程各持一份完整权重——这在单卡上必然爆显存，只能改成串行、按阶段加载再卸载。峰值显存从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24GB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以上压到约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10GB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，代价就是那个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倍加速我拿不到。搬到多卡服务器上，这个并行应该加回来。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数据来源：一次完整跑通的任务日志（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result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job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记录一致）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难点 4 / 4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程序说成功，产物是坏的&lt;/Text&gt;&#10;        &lt;/Box&gt;&#10;&#10;        &lt;Box style={{ height: 492, flexDirection: 'row', gap: 24 }}&gt;&#10;            &lt;Box style={{ width: 780, height: 492, flexDirection: 'column', gap: 20 }}&gt;&#10;                &lt;Box style={{ height: 236, background: '#F7F9FC', border: '1px solid #D6DCE5', borderRadius: 6, padding: '16px 18px', flexDirection: 'column', gap: 12 }}&gt;&#10;                    &lt;Box style={{ flexDirection: 'row', alignItems: 'center', gap: 10 }}&gt;&#10;                        &lt;Box style={{ width: 5, height: 26, background: '#D9534F', borderRadius: 2 }} /&gt;&#10;                        &lt;Text style={{ fontSize: 21, fontWeight: 'bold', color: '#1A2230' }}&gt;一、写幻灯片源码的时候&lt;/Text&gt;&#10;                    &lt;/Box&gt;&#10;                    &lt;Box style={{ flex: 1, flexDirection: 'row', gap: 16 }}&gt;&#10;                        &lt;Box style={{ flex: 1, background: '#FFFFFF', border: '1px solid #D6DCE5', borderRadius: 4, padding: '12px 14px', flexDirection: 'column', gap: 6 }}&gt;&#10;                            &lt;Text style={{ fontSize: 14, fontWeight: 'bold', color: '#8B97A8', letterSpacing: 1 }}&gt;程序说&lt;/Text&gt;&#10;                            &lt;Text style={{ fontSize: 17, color: '#4A5568', lineHeight: 1.45 }}&gt;编译退出码 0，只在日志里留下一行&quot;有非法字节被替换成替换字符&quot;的提示&lt;/Text&gt;&#10;                        &lt;/Box&gt;&#10;                        &lt;Box style={{ flex: 1, background: '#FCEBEB', border: '1px solid #F7C1C1', borderRadius: 4, padding: '12px 14px', flexDirection: 'column', gap: 6 }}&gt;&#10;                            &lt;Text style={{ fontSize: 14, fontWeight: 'bold', color: '#A32D2D', letterSpacing: 1 }}&gt;实际是&lt;/Text&gt;&#10;                            &lt;Text style={{ fontSize: 17, color: '#1A2230', lineHeight: 1.45 }}&gt;渲染出来的 PDF 里中文全部消失——从 PDF 里回抽文字，三个中文判据全是假&lt;/Text&gt;&#10;                        &lt;/Box&gt;&#10;                    &lt;/Box&gt;&#10;                &lt;/Box&gt;&#10;&#10;                &lt;Box style={{ height: 236, background: '#F7F9FC', border: '1px solid #D6DCE5', borderRadius: 6, padding: '16px 18px', flexDirection: 'column', gap: 12 }}&gt;&#10;                    &lt;Box style={{ flexDirection: 'row', alignItems: 'center', gap: 10 }}&gt;&#10;                        &lt;Box style={{ width: 5, height: 26, background: '#D9534F', borderRadius: 2 }} /&gt;&#10;                        &lt;Text style={{ fontSize: 21, fontWeight: 'bold', color: '#1A2230' }}&gt;二、生成数字人的时候&lt;/Text&gt;&#10;                    &lt;/Box&gt;&#10;                    &lt;Box style={{ flex: 1, flexDirection: 'row', gap: 16 }}&gt;&#10;                        &lt;Box style={{ flex: 1, background: '#FFFFFF', border: '1px solid #D6DCE5', borderRadius: 4, padding: '12px 14px', flexDirection: 'column', gap: 6 }}&gt;&#10;                            &lt;Text style={{ fontSize: 14, fontWeight: 'bold', color: '#8B97A8', letterSpacing: 1 }}&gt;程序说&lt;/Text&gt;&#10;                            &lt;Text style={{ fontSize: 17, color: '#4A5568', lineHeight: 1.45 }}&gt;打印&quot;结果已保存&quot;，耗时也正常，没有任何异常堆栈&lt;/Text&gt;&#10;                        &lt;/Box&gt;&#10;                        &lt;Box style={{ flex: 1, background: '#FCEBEB', border: '1px solid #F7C1C1', borderRadius: 4, padding: '12px 14px', flexDirection: 'column', gap: 6 }}&gt;&#10;                            &lt;Text style={{ fontSize: 14, fontWeight: 'bold', color: '#A32D2D', letterSpacing: 1 }}&gt;实际是&lt;/Text&gt;&#10;                            &lt;Text style={{ fontSize: 17, color: '#1A2230', lineHeight: 1.45 }}&gt;产物是一个 0 字节的空文件——整批页都&quot;跑完了&quot;，却一页都没生成出来&lt;/Text&gt;&#10;                        &lt;/Box&gt;&#10;                    &lt;/Box&gt;&#10;                &lt;/Box&gt;&#10;            &lt;/Box&gt;&#10;&#10;            &lt;Box style={{ width: 396, height: 492, flexDirection: 'column', gap: 14 }}&gt;&#10;                &lt;Box style={{ height: 176, background: '#0E3F8C', borderRadius: 8, padding: '22px 24px', flexDirection: 'column', justifyContent: 'center', gap: 8 }}&gt;&#10;                    &lt;Text style={{ fontSize: 15, color: '#8FB6E8', letterSpacing: 2 }}&gt;两次都指向同一条判据&lt;/Text&gt;&#10;                    &lt;Text style={{ fontSize: 26, fontWeight: 'bold', color: '#FFFFFF', lineHeight: 1.3 }}&gt;退出码 0&lt;br /&gt;不等于内容正确&lt;/Text&gt;&#10;                &lt;/Box&gt;&#10;&#10;                &lt;Box style={{ flex: 1, background: '#F7F9FC', border: '1px solid #D6DCE5', borderRadius: 6, padding: '14px 16px', flexDirection: 'column', gap: 8, justifyContent: 'center' }}&gt;&#10;                    &lt;Text style={{ fontSize: 18, fontWeight: 'bold', color: '#1E4FA8' }}&gt;为什么这一类最危险&lt;/Text&gt;&#10;                    &lt;Text style={{ fontSize: 15, color: '#4A5568', lineHeight: 1.45 }}&gt;崩溃会停下来，它不会。它带着坏产物继续往下走，一直混进成片里，而进度条上看不出任何异常。&lt;/Text&gt;&#10;                    &lt;Box style={{ height: 1, background: '#D6DCE5' }} /&gt;&#10;                    &lt;Text style={{ fontSize: 18, fontWeight: 'bold', color: '#1E4FA8' }}&gt;后来的做法&lt;/Text&gt;&#10;                    &lt;Text style={{ fontSize: 15, color: '#4A5568', lineHeight: 1.45 }}&gt;凡是调外部工具的环节，都在结果侧再取一次样：从生成的 PDF 里把文字抽出来，查关键字符串还在不在。&lt;/Text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数字人那个坑的成因：人脸裁剪框的宽高是奇数时，编码器直接拒绝工作&lt;/Text&gt;&#10;        &lt;Text style={{ fontSize: 16, fontWeight: 'bold', color: '#0E3F8C' }}&gt;12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972800" y="2476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难点</a:t>
            </a:r>
            <a:r>
              <a:rPr lang="en-US" sz="1200" spc="150">
                <a:solidFill>
                  <a:srgbClr val="8FB6E8"/>
                </a:solidFill>
                <a:latin typeface="Microsoft YaHei"/>
                <a:ea typeface="Microsoft YaHei"/>
              </a:rPr>
              <a:t> 4 / 4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程序说成功，产物是坏的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81000" y="1485900"/>
            <a:ext cx="7429500" cy="2247900"/>
          </a:xfrm>
          <a:prstGeom prst="roundRect">
            <a:avLst>
              <a:gd name="adj" fmla="val 25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552450" y="1638300"/>
            <a:ext cx="47625" cy="247650"/>
          </a:xfrm>
          <a:prstGeom prst="roundRect">
            <a:avLst>
              <a:gd name="adj" fmla="val 4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95325" y="1638300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一、写幻灯片源码的时候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52450" y="2000250"/>
            <a:ext cx="3467100" cy="158115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5800" y="21145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8B97A8"/>
                </a:solidFill>
                <a:latin typeface="Microsoft YaHei"/>
                <a:ea typeface="Microsoft YaHei"/>
              </a:rPr>
              <a:t>程序说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85800" y="2333625"/>
            <a:ext cx="3200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编译退出码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，只在日志里留下一行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有非法字节被替换成替换字符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的提示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171950" y="2000250"/>
            <a:ext cx="3467100" cy="1581150"/>
          </a:xfrm>
          <a:prstGeom prst="roundRect">
            <a:avLst>
              <a:gd name="adj" fmla="val 2410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05300" y="21145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A32D2D"/>
                </a:solidFill>
                <a:latin typeface="Microsoft YaHei"/>
                <a:ea typeface="Microsoft YaHei"/>
              </a:rPr>
              <a:t>实际是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05300" y="2333625"/>
            <a:ext cx="3200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渲染出来的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PDF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里中文全部消失——从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PDF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里回抽文字，三个中文判据全是假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381000" y="3924300"/>
            <a:ext cx="7429500" cy="2247900"/>
          </a:xfrm>
          <a:prstGeom prst="roundRect">
            <a:avLst>
              <a:gd name="adj" fmla="val 25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552450" y="4076700"/>
            <a:ext cx="47625" cy="247650"/>
          </a:xfrm>
          <a:prstGeom prst="roundRect">
            <a:avLst>
              <a:gd name="adj" fmla="val 4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95325" y="407670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二、生成数字人的时候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552450" y="4438650"/>
            <a:ext cx="3467100" cy="158115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85800" y="45529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8B97A8"/>
                </a:solidFill>
                <a:latin typeface="Microsoft YaHei"/>
                <a:ea typeface="Microsoft YaHei"/>
              </a:rPr>
              <a:t>程序说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85800" y="4772025"/>
            <a:ext cx="3200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打印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结果已保存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，耗时也正常，没有任何异常堆栈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171950" y="4438650"/>
            <a:ext cx="3467100" cy="1581150"/>
          </a:xfrm>
          <a:prstGeom prst="roundRect">
            <a:avLst>
              <a:gd name="adj" fmla="val 2410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305300" y="45529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A32D2D"/>
                </a:solidFill>
                <a:latin typeface="Microsoft YaHei"/>
                <a:ea typeface="Microsoft YaHei"/>
              </a:rPr>
              <a:t>实际是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305300" y="4772025"/>
            <a:ext cx="3200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产物是一个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字节的空文件——整批页都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跑完了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，却一页都没生成出来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8039100" y="1485900"/>
            <a:ext cx="3771900" cy="1676400"/>
          </a:xfrm>
          <a:prstGeom prst="roundRect">
            <a:avLst>
              <a:gd name="adj" fmla="val 454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267700" y="180975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8FB6E8"/>
                </a:solidFill>
                <a:latin typeface="Microsoft YaHei"/>
                <a:ea typeface="Microsoft YaHei"/>
              </a:rPr>
              <a:t>两次都指向同一条判据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267700" y="2057400"/>
            <a:ext cx="3314700" cy="7810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退出码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0</a:t>
            </a:r>
            <a:endParaRPr/>
          </a:p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不等于内容正确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039100" y="3295650"/>
            <a:ext cx="3771900" cy="2876550"/>
          </a:xfrm>
          <a:prstGeom prst="roundRect">
            <a:avLst>
              <a:gd name="adj" fmla="val 19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191500" y="3867150"/>
            <a:ext cx="3467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为什么这一类最危险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191500" y="4152900"/>
            <a:ext cx="3467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崩溃会停下来，它不会。它带着坏产物继续往下走，一直混进成片里，而进度条上看不出任何异常。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191500" y="4733925"/>
            <a:ext cx="34671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191500" y="4819650"/>
            <a:ext cx="3467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后来的做法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191500" y="5105400"/>
            <a:ext cx="3467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凡是调外部工具的环节，都在结果侧再取一次样：从生成的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PDF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里把文字抽出来，查关键字符串还在不在。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数字人那个坑的成因：人脸裁剪框的宽高是奇数时，编码器直接拒绝工作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4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成果&lt;/Text&gt;&#10;    &lt;/Box&gt;&#10;&#10;    &lt;Box style={{ flex: 1, flexDirection: 'column', padding: '24px 40px', gap: 14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拿得出来的东西&lt;/Text&gt;&#10;            &lt;Text style={{ fontSize: 17, color: '#8B97A8', marginLeft: 6 }}&gt;这一页不放示意图，下面这一栏是跑出来的帧&lt;/Text&gt;&#10;        &lt;/Box&gt;&#10;&#10;        &lt;Box style={{ height: 292, background: '#F7F9FC', border: '1px solid #D6DCE5', borderRadius: 6, padding: 4, flexDirection: 'column', justifyContent: 'center' }}&gt;&#10;            &lt;Image src='assets/dh_filmstrip.png' style={{ width: 1192, height: 284, objectFit: 'contain' }} /&gt;&#10;        &lt;/Box&gt;&#10;&#10;        &lt;Box style={{ height: 184, flexDirection: 'row', gap: 20 }}&gt;&#10;            &lt;Box style={{ width: 386, height: 184, background: '#F7F9FC', border: '1px solid #D6DCE5', borderRadius: 6, padding: '16px 18px', flexDirection: 'column', justifyContent: 'space-between' }}&gt;&#10;                &lt;Box style={{ flexDirection: 'column', gap: 2 }}&gt;&#10;                    &lt;Text style={{ fontSize: 18, color: '#4A5568', letterSpacing: 1 }}&gt;自动化断言&lt;/Text&gt;&#10;                    &lt;Text style={{ fontSize: 42, fontWeight: 'bold', color: '#1E4FA8', lineHeight: 1.05 }}&gt;310 项&lt;/Text&gt;&#10;                    &lt;Text style={{ fontSize: 15, color: '#4A5568', lineHeight: 1.4 }}&gt;分 14 组覆盖接口与流程，跑一次不消耗 API 额度&lt;/Text&gt;&#10;                &lt;/Box&gt;&#10;                &lt;Text style={{ fontSize: 14, color: '#8B97A8' }}&gt;其中含专门的反面对照组&lt;/Text&gt;&#10;            &lt;/Box&gt;&#10;&#10;            &lt;Box style={{ width: 386, height: 184, background: '#F7F9FC', border: '1px solid #D6DCE5', borderRadius: 6, padding: '16px 18px', flexDirection: 'column', justifyContent: 'space-between' }}&gt;&#10;                &lt;Box style={{ flexDirection: 'column', gap: 2 }}&gt;&#10;                    &lt;Text style={{ fontSize: 18, color: '#4A5568', letterSpacing: 1 }}&gt;生成出来的视频文件&lt;/Text&gt;&#10;                    &lt;Text style={{ fontSize: 42, fontWeight: 'bold', color: '#1E4FA8', lineHeight: 1.05 }}&gt;189 个&lt;/Text&gt;&#10;                    &lt;Text style={{ fontSize: 15, color: '#4A5568', lineHeight: 1.4 }}&gt;含 15 段数字人逐页片段，成片由它们拼接而成&lt;/Text&gt;&#10;                &lt;/Box&gt;&#10;                &lt;Text style={{ fontSize: 14, color: '#8B97A8' }}&gt;另有 7 张真实渲染的幻灯片&lt;/Text&gt;&#10;            &lt;/Box&gt;&#10;&#10;            &lt;Box style={{ width: 388, height: 184, background: '#E8EFF8', border: '1px dashed #1E4FA8', borderRadius: 6, padding: '16px 18px', flexDirection: 'column', justifyContent: 'space-between' }}&gt;&#10;                &lt;Box style={{ flexDirection: 'column', gap: 4 }}&gt;&#10;                    &lt;Text style={{ fontSize: 18, color: '#1E4FA8', letterSpacing: 1 }}&gt;完整成片&lt;/Text&gt;&#10;                    &lt;Text style={{ fontSize: 22, fontWeight: 'bold', color: '#0E3F8C' }}&gt;待放入&lt;/Text&gt;&#10;                    &lt;Text style={{ fontSize: 15, color: '#4A5568', lineHeight: 1.45 }}&gt;把拼好的视频放进项目目录后，替换这一格并放一张封面帧&lt;/Text&gt;&#10;                &lt;/Box&gt;&#10;                &lt;Text style={{ fontSize: 14, color: '#1E4FA8' }}&gt;目前只有逐页片段，尚未整体拼接&lt;/Text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数字人帧抽自本机产出的逐页片段（第 1、4、7、10、13、15 页）&lt;/Text&gt;&#10;        &lt;Text style={{ fontSize: 16, fontWeight: 'bold', color: '#0E3F8C' }}&gt;13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468100" y="2476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成果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拿得出来的东西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190875" y="10287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这一页不放示意图，下面这一栏是跑出来的帧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381000" y="1466850"/>
            <a:ext cx="11430000" cy="2781300"/>
          </a:xfrm>
          <a:prstGeom prst="roundRect">
            <a:avLst>
              <a:gd name="adj" fmla="val 205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 r:embed="rId1"/>
          <a:srcRect l="0" t="1707" r="0" b="1707"/>
          <a:stretch>
            <a:fillRect/>
          </a:stretch>
        </p:blipFill>
        <p:spPr>
          <a:xfrm rot="0" flipH="0" flipV="0">
            <a:off x="419100" y="1504950"/>
            <a:ext cx="11353800" cy="2705100"/>
          </a:xfrm>
          <a:prstGeom prst="rect">
            <a:avLst/>
          </a:prstGeom>
          <a:ln/>
        </p:spPr>
      </p:pic>
      <p:sp>
        <p:nvSpPr>
          <p:cNvPr id="114" name=""/>
          <p:cNvSpPr/>
          <p:nvPr/>
        </p:nvSpPr>
        <p:spPr>
          <a:xfrm rot="0" flipH="0" flipV="0">
            <a:off x="381000" y="4381500"/>
            <a:ext cx="3676650" cy="175260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52450" y="4533900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4A5568"/>
                </a:solidFill>
                <a:latin typeface="Microsoft YaHei"/>
                <a:ea typeface="Microsoft YaHei"/>
              </a:rPr>
              <a:t>自动化断言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52450" y="4762500"/>
            <a:ext cx="3333750" cy="5048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310 </a:t>
            </a:r>
            <a:r>
              <a:rPr lang="zh-CN" sz="3150" b="1">
                <a:solidFill>
                  <a:srgbClr val="1E4FA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52450" y="5286375"/>
            <a:ext cx="3333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组覆盖接口与流程，跑一次不消耗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API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额度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52450" y="581977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其中含专门的反面对照组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248150" y="4381500"/>
            <a:ext cx="3676650" cy="175260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19600" y="4533900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4A5568"/>
                </a:solidFill>
                <a:latin typeface="Microsoft YaHei"/>
                <a:ea typeface="Microsoft YaHei"/>
              </a:rPr>
              <a:t>生成出来的视频文件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419600" y="4762500"/>
            <a:ext cx="3333750" cy="5048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189 </a:t>
            </a:r>
            <a:r>
              <a:rPr lang="zh-CN" sz="3150" b="1">
                <a:solidFill>
                  <a:srgbClr val="1E4FA8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19600" y="5286375"/>
            <a:ext cx="3333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段数字人逐页片段，成片由它们拼接而成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419600" y="581977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另有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7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张真实渲染的幻灯片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115300" y="4381500"/>
            <a:ext cx="3695700" cy="1752600"/>
          </a:xfrm>
          <a:prstGeom prst="roundRect">
            <a:avLst>
              <a:gd name="adj" fmla="val 3261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dash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286750" y="4533900"/>
            <a:ext cx="335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1E4FA8"/>
                </a:solidFill>
                <a:latin typeface="Microsoft YaHei"/>
                <a:ea typeface="Microsoft YaHei"/>
              </a:rPr>
              <a:t>完整成片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286750" y="478155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待放入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286750" y="5076825"/>
            <a:ext cx="33528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把拼好的视频放进项目目录后，替换这一格并放一张封面帧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286750" y="5819775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目前只有逐页片段，尚未整体拼接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99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数字人帧抽自本机产出的逐页片段（第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4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7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10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13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15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页）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1280, height: 720, display: 'flex', flexDirection: 'column', background: '#FFFFFF', fontFamily: &quot;'Microsoft YaHei', 'PingFang SC', 'Noto Sans CJK SC', sans-serif&quot;, padding: 0 }}&gt;&#10;    &lt;Box style={{ height: 72, background: '#0E3F8C', flexDirection: 'row', alignItems: 'center', justifyContent: 'space-between', padding: '0 40px' }}&gt;&#10;        &lt;Text style={{ fontSize: 20, fontWeight: 'bold', color: '#FFFFFF' }}&gt;Paper2Video 项目汇报&lt;/Text&gt;&#10;        &lt;Text style={{ fontSize: 16, color: '#8FB6E8', letterSpacing: 2 }}&gt;复盘&lt;/Text&gt;&#10;    &lt;/Box&gt;&#10;&#10;    &lt;Box style={{ flex: 1, flexDirection: 'column', padding: '24px 40px', gap: 16 }}&gt;&#10;        &lt;Box style={{ height: 44, flexDirection: 'row', alignItems: 'center', gap: 16 }}&gt;&#10;            &lt;Box style={{ width: 5, height: 34, background: '#1E4FA8', borderRadius: 2 }} /&gt;&#10;            &lt;Text style={{ fontSize: 36, fontWeight: 'bold', color: '#0E3F8C' }}&gt;三件事分开说&lt;/Text&gt;&#10;            &lt;Text style={{ fontSize: 17, color: '#8B97A8', marginLeft: 6 }}&gt;哪是我的功劳，哪是运气，哪是我记错了&lt;/Text&gt;&#10;        &lt;/Box&gt;&#10;&#10;        &lt;Box style={{ height: 492, flexDirection: 'row', gap: 24 }}&gt;&#10;            &lt;Box style={{ width: 380, height: 492, background: '#F7F9FC', borderLeft: '5px solid #1E4FA8', borderRadius: 6, padding: '30px 26px', flexDirection: 'column', justifyContent: 'space-between' }}&gt;&#10;                &lt;Text style={{ fontSize: 15, color: '#1E4FA8', letterSpacing: 3 }}&gt;复盘&lt;/Text&gt;&#10;&#10;                &lt;Box style={{ flexDirection: 'column', gap: 14 }}&gt;&#10;                    &lt;Box style={{ flexDirection: 'row', alignItems: 'center', gap: 12 }}&gt;&#10;                        &lt;Box style={{ width: 30, height: 30, background: '#1E4FA8', borderRadius: 4, alignItems: 'center', justifyContent: 'center' }}&gt;&#10;                            &lt;Text style={{ fontSize: 15, fontWeight: 'bold', color: '#FFFFFF' }}&gt;01&lt;/Text&gt;&#10;                        &lt;/Box&gt;&#10;                        &lt;Text style={{ fontSize: 19, fontWeight: 'bold', color: '#1A2230' }}&gt;做对的&lt;/Text&gt;&#10;                    &lt;/Box&gt;&#10;                    &lt;Box style={{ flexDirection: 'row', alignItems: 'center', gap: 12 }}&gt;&#10;                        &lt;Box style={{ width: 30, height: 30, background: '#8B97A8', borderRadius: 4, alignItems: 'center', justifyContent: 'center' }}&gt;&#10;                            &lt;Text style={{ fontSize: 15, fontWeight: 'bold', color: '#FFFFFF' }}&gt;02&lt;/Text&gt;&#10;                        &lt;/Box&gt;&#10;                        &lt;Text style={{ fontSize: 19, fontWeight: 'bold', color: '#1A2230' }}&gt;靠运气的&lt;/Text&gt;&#10;                    &lt;/Box&gt;&#10;                    &lt;Box style={{ flexDirection: 'row', alignItems: 'center', gap: 12 }}&gt;&#10;                        &lt;Box style={{ width: 30, height: 30, background: '#D9534F', borderRadius: 4, alignItems: 'center', justifyContent: 'center' }}&gt;&#10;                            &lt;Text style={{ fontSize: 15, fontWeight: 'bold', color: '#FFFFFF' }}&gt;03&lt;/Text&gt;&#10;                        &lt;/Box&gt;&#10;                        &lt;Text style={{ fontSize: 19, fontWeight: 'bold', color: '#1A2230' }}&gt;记错的&lt;/Text&gt;&#10;                    &lt;/Box&gt;&#10;                &lt;/Box&gt;&#10;&#10;                &lt;Text style={{ fontSize: 15, color: '#4A5568', lineHeight: 1.5 }}&gt;这一页按这三类划分。把不属于自己的功劳认领了，比说错一个数更麻烦。&lt;/Text&gt;&#10;            &lt;/Box&gt;&#10;&#10;            &lt;Box style={{ width: 796, height: 492, flexDirection: 'column', gap: 12 }}&gt;&#10;                &lt;Box style={{ flex: 1, background: '#FFFFFF', border: '1px solid #D6DCE5', borderLeft: '4px solid #1E4FA8', borderRadius: 6, padding: '14px 18px', flexDirection: 'column', gap: 6, justifyContent: 'center' }}&gt;&#10;                    &lt;Text style={{ fontSize: 21, fontWeight: 'bold', color: '#0E3F8C' }}&gt;把一条判据留下来了&lt;/Text&gt;&#10;                    &lt;Text style={{ fontSize: 16, color: '#4A5568', lineHeight: 1.45 }}&gt;&quot;退出码 0 不等于内容正确&quot;——凡是要调外部工具的环节，都在结果侧再取一次样。改过的地方也都配了自检脚本，环境重装之后一条命令就能验回来。&lt;/Text&gt;&#10;                &lt;/Box&gt;&#10;&#10;                &lt;Box style={{ flex: 1, background: '#FFFFFF', border: '1px solid #D6DCE5', borderLeft: '4px solid #8B97A8', borderRadius: 6, padding: '14px 18px', flexDirection: 'column', gap: 6, justifyContent: 'center' }}&gt;&#10;                    &lt;Text style={{ fontSize: 21, fontWeight: 'bold', color: '#1A2230' }}&gt;换 API 那一步几乎没改代码，这是运气&lt;/Text&gt;&#10;                    &lt;Text style={{ fontSize: 16, color: '#4A5568', lineHeight: 1.45 }}&gt;上游那个取模型配置的函数本来就写了兜底分支，换模型只要传个参数。省下来的工作量不是我做出来的，我把这一点写进了文档，免得被当成工作量。&lt;/Text&gt;&#10;                &lt;/Box&gt;&#10;&#10;                &lt;Box style={{ flex: 1, background: '#FCEBEB', border: '1px solid #F7C1C1', borderLeft: '4px solid #D9534F', borderRadius: 6, padding: '14px 18px', flexDirection: 'column', gap: 6, justifyContent: 'center' }}&gt;&#10;                    &lt;Text style={{ fontSize: 21, fontWeight: 'bold', color: '#A32D2D' }}&gt;两个错误在笔记里记了很久&lt;/Text&gt;&#10;                    &lt;Text style={{ fontSize: 16, color: '#1A2230', lineHeight: 1.45 }}&gt;一个是&quot;上游代码被忽略、不要改&quot;，实际它一直在版本控制里——照这个理解我会白白重打一遍补丁。另一个是数字人的型号：两份文档写的不是同一个，而代码里的默认值是第三个。两处都是翻代码才发现的。&lt;/Text&gt;&#10;                &lt;/Box&gt;&#10;            &lt;/Box&gt;&#10;        &lt;/Box&gt;&#10;    &lt;/Box&gt;&#10;&#10;    &lt;Box style={{ height: 48, padding: '0 40px', flexDirection: 'row', alignItems: 'center', justifyContent: 'space-between' }}&gt;&#10;        &lt;Text style={{ fontSize: 14, color: '#8B97A8' }}&gt;已按核实结果修正两处记录，并同步到文档与项目笔记&lt;/Text&gt;&#10;        &lt;Text style={{ fontSize: 16, fontWeight: 'bold', color: '#0E3F8C' }}&gt;1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Paper2Video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项目汇报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468100" y="2476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6E8"/>
                </a:solidFill>
                <a:latin typeface="Microsoft YaHei"/>
                <a:ea typeface="Microsoft YaHei"/>
              </a:rPr>
              <a:t>复盘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381000" y="962025"/>
            <a:ext cx="47625" cy="3238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81025" y="91440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三件事分开说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847975" y="102870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哪是我的功劳，哪是运气，哪是我记错了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428625" y="1485900"/>
            <a:ext cx="3571875" cy="4686300"/>
          </a:xfrm>
          <a:prstGeom prst="roundRect">
            <a:avLst>
              <a:gd name="adj" fmla="val 16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428625" y="1485900"/>
            <a:ext cx="3571875" cy="4686300"/>
          </a:xfrm>
          <a:custGeom>
            <a:pathLst>
              <a:path w="375" h="4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91"/>
                </a:lnTo>
                <a:cubicBezTo>
                  <a:pt x="5" y="492"/>
                  <a:pt x="5" y="492"/>
                  <a:pt x="6" y="492"/>
                </a:cubicBezTo>
                <a:cubicBezTo>
                  <a:pt x="3" y="492"/>
                  <a:pt x="0" y="489"/>
                  <a:pt x="0" y="4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76275" y="177165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1E4FA8"/>
                </a:solidFill>
                <a:latin typeface="Microsoft YaHei"/>
                <a:ea typeface="Microsoft YaHei"/>
              </a:rPr>
              <a:t>复盘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76275" y="3095625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33425" y="31527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76325" y="31337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做对的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76275" y="3514725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33425" y="35718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76325" y="35528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靠运气的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76275" y="3933825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33425" y="39909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76325" y="39719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记错的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76275" y="5372100"/>
            <a:ext cx="3076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这一页按这三类划分。把不属于自己的功劳认领了，比说错一个数更麻烦。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267200" y="1485900"/>
            <a:ext cx="7581900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4267200" y="1485900"/>
            <a:ext cx="7581900" cy="1485900"/>
          </a:xfrm>
          <a:custGeom>
            <a:pathLst>
              <a:path w="796" h="15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54"/>
                </a:lnTo>
                <a:cubicBezTo>
                  <a:pt x="4" y="155"/>
                  <a:pt x="5" y="156"/>
                  <a:pt x="6" y="156"/>
                </a:cubicBezTo>
                <a:cubicBezTo>
                  <a:pt x="3" y="156"/>
                  <a:pt x="0" y="153"/>
                  <a:pt x="0" y="1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438650" y="1809750"/>
            <a:ext cx="720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把一条判据留下来了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438650" y="2114550"/>
            <a:ext cx="720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退出码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不等于内容正确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"——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凡是要调外部工具的环节，都在结果侧再取一次样。改过的地方也都配了自检脚本，环境重装之后一条命令就能验回来。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4267200" y="3086100"/>
            <a:ext cx="7581900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4267200" y="3086100"/>
            <a:ext cx="7581900" cy="1485900"/>
          </a:xfrm>
          <a:custGeom>
            <a:pathLst>
              <a:path w="796" h="15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54"/>
                </a:lnTo>
                <a:cubicBezTo>
                  <a:pt x="4" y="155"/>
                  <a:pt x="5" y="156"/>
                  <a:pt x="6" y="156"/>
                </a:cubicBezTo>
                <a:cubicBezTo>
                  <a:pt x="3" y="156"/>
                  <a:pt x="0" y="153"/>
                  <a:pt x="0" y="1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438650" y="3409950"/>
            <a:ext cx="720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换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那一步几乎没改代码，这是运气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438650" y="3714750"/>
            <a:ext cx="720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上游那个取模型配置的函数本来就写了兜底分支，换模型只要传个参数。省下来的工作量不是我做出来的，我把这一点写进了文档，免得被当成工作量。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267200" y="4686300"/>
            <a:ext cx="7581900" cy="1485900"/>
          </a:xfrm>
          <a:prstGeom prst="roundRect">
            <a:avLst>
              <a:gd name="adj" fmla="val 3846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4267200" y="4686300"/>
            <a:ext cx="7581900" cy="1485900"/>
          </a:xfrm>
          <a:custGeom>
            <a:pathLst>
              <a:path w="796" h="15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54"/>
                </a:lnTo>
                <a:cubicBezTo>
                  <a:pt x="4" y="155"/>
                  <a:pt x="5" y="156"/>
                  <a:pt x="6" y="156"/>
                </a:cubicBezTo>
                <a:cubicBezTo>
                  <a:pt x="3" y="156"/>
                  <a:pt x="0" y="153"/>
                  <a:pt x="0" y="1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438650" y="5010150"/>
            <a:ext cx="720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A32D2D"/>
                </a:solidFill>
                <a:latin typeface="Microsoft YaHei"/>
                <a:ea typeface="Microsoft YaHei"/>
              </a:rPr>
              <a:t>两个错误在笔记里记了很久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438650" y="5314950"/>
            <a:ext cx="720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一个是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上游代码被忽略、不要改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，实际它一直在版本控制里——照这个理解我会白白重打一遍补丁。另一个是数字人的型号：两份文档写的不是同一个，而代码里的默认值是第三个。两处都是翻代码才发现的。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已按核实结果修正两处记录，并同步到文档与项目笔记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268075" y="6534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6" name="" descr="&lt;Slide style={{ width: 1280, height: 720, display: 'flex', flexDirection: 'column', background: '#0E3F8C', fontFamily: &quot;'Microsoft YaHei', 'PingFang SC', 'Noto Sans CJK SC', sans-serif&quot;, padding: 0 }}&gt;&#10;    &lt;Box style={{ height: 6, background: '#3D7BD9' }} /&gt;&#10;&#10;    &lt;Box style={{ flex: 1, flexDirection: 'column', padding: '46px 64px 0 64px', gap: 12 }}&gt;&#10;        &lt;Text style={{ fontSize: 50, fontWeight: 'bold', color: '#FFFFFF', lineHeight: 1.15 }}&gt;还没做的&lt;/Text&gt;&#10;        &lt;Text style={{ fontSize: 19, color: '#8FB6E8' }}&gt;下面四条都是能验证的，不是&quot;继续优化&quot;这种话&lt;/Text&gt;&#10;&#10;        &lt;Box style={{ height: 306, flexDirection: 'row', gap: 18, marginTop: 10 }}&gt;&#10;            &lt;Box style={{ width: 567, height: 306, flexDirection: 'column', gap: 18 }}&gt;&#10;                &lt;Box style={{ flex: 1, background: '#1E4FA8', borderRadius: 6, padding: '14px 18px', flexDirection: 'column', gap: 5, justifyContent: 'center' }}&gt;&#10;                    &lt;Text style={{ fontSize: 19, fontWeight: 'bold', color: '#FFFFFF' }}&gt;矢量图的阈值还没标定&lt;/Text&gt;&#10;                    &lt;Text style={{ fontSize: 15, color: '#CFE0F5', lineHeight: 1.4 }}&gt;手头两篇论文里一个矢量簇都没聚出来，所以规则定得偏保守，遇到 matplotlib 直出的论文要重新测。&lt;/Text&gt;&#10;                &lt;/Box&gt;&#10;                &lt;Box style={{ flex: 1, background: '#1E4FA8', borderRadius: 6, padding: '14px 18px', flexDirection: 'column', gap: 5, justifyContent: 'center' }}&gt;&#10;                    &lt;Text style={{ fontSize: 19, fontWeight: 'bold', color: '#FFFFFF' }}&gt;论文那四项评测指标一条都没跑&lt;/Text&gt;&#10;                    &lt;Text style={{ fontSize: 15, color: '#CFE0F5', lineHeight: 1.4 }}&gt;要复现论文里报的数字，必须换回它的原始模型组合。也就是说，做出来的东西还没有跟原论文对齐着量过。&lt;/Text&gt;&#10;                &lt;/Box&gt;&#10;            &lt;/Box&gt;&#10;&#10;            &lt;Box style={{ width: 567, height: 306, flexDirection: 'column', gap: 18 }}&gt;&#10;                &lt;Box style={{ flex: 1, background: '#1E4FA8', borderRadius: 6, padding: '14px 18px', flexDirection: 'column', gap: 5, justifyContent: 'center' }}&gt;&#10;                    &lt;Text style={{ fontSize: 19, fontWeight: 'bold', color: '#FFFFFF' }}&gt;本机 GPU 上的产物还没进缓存&lt;/Text&gt;&#10;                    &lt;Text style={{ fontSize: 15, color: '#CFE0F5', lineHeight: 1.4 }}&gt;现在只有联网的两步能靠指纹跳过。语音、光标、数字人这三段每次都要重跑，占了一条片子 24 分钟里的绝大部分。&lt;/Text&gt;&#10;                &lt;/Box&gt;&#10;                &lt;Box style={{ flex: 1, background: '#1E4FA8', borderRadius: 6, padding: '14px 18px', flexDirection: 'column', gap: 5, justifyContent: 'center' }}&gt;&#10;                    &lt;Text style={{ fontSize: 19, fontWeight: 'bold', color: '#FFFFFF' }}&gt;多人使用还缺三件事&lt;/Text&gt;&#10;                    &lt;Text style={{ fontSize: 15, color: '#CFE0F5', lineHeight: 1.4 }}&gt;按人统计用量、排队可见、内网访问。现在只监听本机回环地址，凭据倒是已经按任务隔离了。&lt;/Text&gt;&#10;                &lt;/Box&gt;&#10;            &lt;/Box&gt;&#10;        &lt;/Box&gt;&#10;&#10;        &lt;Box style={{ flex: 1, background: '#15529E', borderLeft: '4px solid #3D7BD9', borderRadius: 4, padding: '14px 20px', flexDirection: 'column', justifyContent: 'center', gap: 5, marginTop: 4 }}&gt;&#10;            &lt;Text style={{ fontSize: 15, fontWeight: 'bold', color: '#8FB6E8', letterSpacing: 1 }}&gt;最后一条不是待办，是结论&lt;/Text&gt;&#10;            &lt;Text style={{ fontSize: 18, color: '#FFFFFF', lineHeight: 1.45 }}&gt;模型全部换过之后，论文报告的那些数字不能当成这套系统的成绩——它们来自另一套模型组合。我做的是一次在单卡约束下的重新选型。&lt;/Text&gt;&#10;        &lt;/Box&gt;&#10;    &lt;/Box&gt;&#10;&#10;    &lt;Box style={{ height: 76, padding: '0 64px', flexDirection: 'row', alignItems: 'center', justifyContent: 'space-between' }}&gt;&#10;        &lt;Text style={{ fontSize: 15, color: '#8FB6E8' }}&gt;致谢 / 联系方式 / 仓库地址：＿＿＿＿＿＿＿＿＿＿&lt;/Text&gt;&#10;        &lt;Text style={{ fontSize: 16, fontWeight: 'bold', color: '#FFFFFF' }}&gt;1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495300"/>
            <a:ext cx="10972800" cy="6572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750" b="1">
                <a:solidFill>
                  <a:srgbClr val="FFFFFF"/>
                </a:solidFill>
                <a:latin typeface="Microsoft YaHei"/>
                <a:ea typeface="Microsoft YaHei"/>
              </a:rPr>
              <a:t>还没做的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FB6E8"/>
                </a:solidFill>
                <a:latin typeface="Microsoft YaHei"/>
                <a:ea typeface="Microsoft YaHei"/>
              </a:rPr>
              <a:t>下面四条都是能验证的，不是</a:t>
            </a:r>
            <a:r>
              <a:rPr lang="en-US" sz="1425">
                <a:solidFill>
                  <a:srgbClr val="8FB6E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FB6E8"/>
                </a:solidFill>
                <a:latin typeface="Microsoft YaHei"/>
                <a:ea typeface="Microsoft YaHei"/>
              </a:rPr>
              <a:t>继续优化</a:t>
            </a:r>
            <a:r>
              <a:rPr lang="en-US" sz="1425">
                <a:solidFill>
                  <a:srgbClr val="8FB6E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FB6E8"/>
                </a:solidFill>
                <a:latin typeface="Microsoft YaHei"/>
                <a:ea typeface="Microsoft YaHei"/>
              </a:rPr>
              <a:t>这种话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1695450"/>
            <a:ext cx="5400675" cy="1371600"/>
          </a:xfrm>
          <a:prstGeom prst="roundRect">
            <a:avLst>
              <a:gd name="adj" fmla="val 41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" y="2009775"/>
            <a:ext cx="5057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矢量图的阈值还没标定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81050" y="2276475"/>
            <a:ext cx="50577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CFE0F5"/>
                </a:solidFill>
                <a:latin typeface="Microsoft YaHei"/>
                <a:ea typeface="Microsoft YaHei"/>
              </a:rPr>
              <a:t>手头两篇论文里一个矢量簇都没聚出来，所以规则定得偏保守，遇到</a:t>
            </a:r>
            <a:r>
              <a:rPr lang="en-US" sz="1125">
                <a:solidFill>
                  <a:srgbClr val="CFE0F5"/>
                </a:solidFill>
                <a:latin typeface="Microsoft YaHei"/>
                <a:ea typeface="Microsoft YaHei"/>
              </a:rPr>
              <a:t> matplotlib </a:t>
            </a:r>
            <a:r>
              <a:rPr lang="zh-CN" sz="1125">
                <a:solidFill>
                  <a:srgbClr val="CFE0F5"/>
                </a:solidFill>
                <a:latin typeface="Microsoft YaHei"/>
                <a:ea typeface="Microsoft YaHei"/>
              </a:rPr>
              <a:t>直出的论文要重新测。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3238500"/>
            <a:ext cx="5400675" cy="1371600"/>
          </a:xfrm>
          <a:prstGeom prst="roundRect">
            <a:avLst>
              <a:gd name="adj" fmla="val 41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81050" y="3552825"/>
            <a:ext cx="5057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论文那四项评测指标一条都没跑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50577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CFE0F5"/>
                </a:solidFill>
                <a:latin typeface="Microsoft YaHei"/>
                <a:ea typeface="Microsoft YaHei"/>
              </a:rPr>
              <a:t>要复现论文里报的数字，必须换回它的原始模型组合。也就是说，做出来的东西还没有跟原论文对齐着量过。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181725" y="1695450"/>
            <a:ext cx="5400675" cy="1371600"/>
          </a:xfrm>
          <a:prstGeom prst="roundRect">
            <a:avLst>
              <a:gd name="adj" fmla="val 41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353175" y="2009775"/>
            <a:ext cx="5057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本机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GPU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上的产物还没进缓存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353175" y="2276475"/>
            <a:ext cx="50577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CFE0F5"/>
                </a:solidFill>
                <a:latin typeface="Microsoft YaHei"/>
                <a:ea typeface="Microsoft YaHei"/>
              </a:rPr>
              <a:t>现在只有联网的两步能靠指纹跳过。语音、光标、数字人这三段每次都要重跑，占了一条片子</a:t>
            </a:r>
            <a:r>
              <a:rPr lang="en-US" sz="1125">
                <a:solidFill>
                  <a:srgbClr val="CFE0F5"/>
                </a:solidFill>
                <a:latin typeface="Microsoft YaHei"/>
                <a:ea typeface="Microsoft YaHei"/>
              </a:rPr>
              <a:t> 24 </a:t>
            </a:r>
            <a:r>
              <a:rPr lang="zh-CN" sz="1125">
                <a:solidFill>
                  <a:srgbClr val="CFE0F5"/>
                </a:solidFill>
                <a:latin typeface="Microsoft YaHei"/>
                <a:ea typeface="Microsoft YaHei"/>
              </a:rPr>
              <a:t>分钟里的绝大部分。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181725" y="3238500"/>
            <a:ext cx="5400675" cy="1371600"/>
          </a:xfrm>
          <a:prstGeom prst="roundRect">
            <a:avLst>
              <a:gd name="adj" fmla="val 41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353175" y="3552825"/>
            <a:ext cx="5057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多人使用还缺三件事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353175" y="3819525"/>
            <a:ext cx="50577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CFE0F5"/>
                </a:solidFill>
                <a:latin typeface="Microsoft YaHei"/>
                <a:ea typeface="Microsoft YaHei"/>
              </a:rPr>
              <a:t>按人统计用量、排队可见、内网访问。现在只监听本机回环地址，凭据倒是已经按任务隔离了。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47700" y="4762500"/>
            <a:ext cx="10972800" cy="1371600"/>
          </a:xfrm>
          <a:prstGeom prst="roundRect">
            <a:avLst>
              <a:gd name="adj" fmla="val 2778"/>
            </a:avLst>
          </a:prstGeom>
          <a:solidFill>
            <a:srgbClr val="15529E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47700" y="4762500"/>
            <a:ext cx="10972800" cy="1371600"/>
          </a:xfrm>
          <a:custGeom>
            <a:pathLst>
              <a:path w="1152" h="144">
                <a:moveTo>
                  <a:pt x="4" y="144"/>
                </a:moveTo>
                <a:cubicBezTo>
                  <a:pt x="2" y="144"/>
                  <a:pt x="0" y="142"/>
                  <a:pt x="0" y="14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38200" y="5191125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8FB6E8"/>
                </a:solidFill>
                <a:latin typeface="Microsoft YaHei"/>
                <a:ea typeface="Microsoft YaHei"/>
              </a:rPr>
              <a:t>最后一条不是待办，是结论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8200" y="5410200"/>
            <a:ext cx="105537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模型全部换过之后，论文报告的那些数字不能当成这套系统的成绩——它们来自另一套模型组合。我做的是一次在单卡约束下的重新选型。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6E8"/>
                </a:solidFill>
                <a:latin typeface="Microsoft YaHei"/>
                <a:ea typeface="Microsoft YaHei"/>
              </a:rPr>
              <a:t>致谢</a:t>
            </a:r>
            <a:r>
              <a:rPr lang="en-US" sz="1125">
                <a:solidFill>
                  <a:srgbClr val="8FB6E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FB6E8"/>
                </a:solidFill>
                <a:latin typeface="Microsoft YaHei"/>
                <a:ea typeface="Microsoft YaHei"/>
              </a:rPr>
              <a:t>联系方式</a:t>
            </a:r>
            <a:r>
              <a:rPr lang="en-US" sz="1125">
                <a:solidFill>
                  <a:srgbClr val="8FB6E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FB6E8"/>
                </a:solidFill>
                <a:latin typeface="Microsoft YaHei"/>
                <a:ea typeface="Microsoft YaHei"/>
              </a:rPr>
              <a:t>仓库地址：＿＿＿＿＿＿＿＿＿＿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039475" y="640080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2026-09-19T16:05:55Z</dcterms:created>
  <dcterms:modified xsi:type="dcterms:W3CDTF">2026-09-19T16:05:55Z</dcterms:modified>
</cp:coreProperties>
</file>