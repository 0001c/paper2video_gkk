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jpg" ContentType="image/jpe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  <Override PartName="/ppt/slides/charts/chart3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chart" Target="charts/chart2.xml" /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8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jp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chart" Target="charts/chart3.xml" /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11.pn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2.png" /><Relationship Id="rId1" Type="http://schemas.openxmlformats.org/officeDocument/2006/relationships/image" Target="media/image10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chart" Target="charts/chart1.xml" /><Relationship Id="rId1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各阶段真实耗时（分钟）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耗时（分钟）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7"/>
                <c:pt idx="0">
                  <c:v>数字人生成</c:v>
                </c:pt>
                <c:pt idx="1">
                  <c:v>语音合成</c:v>
                </c:pt>
                <c:pt idx="2">
                  <c:v>光标定位</c:v>
                </c:pt>
                <c:pt idx="3">
                  <c:v>合成视频</c:v>
                </c:pt>
                <c:pt idx="4">
                  <c:v>结构化正文</c:v>
                </c:pt>
                <c:pt idx="5">
                  <c:v>生成幻灯片</c:v>
                </c:pt>
                <c:pt idx="6">
                  <c:v>生成讲稿与光标描述</c:v>
                </c:pt>
              </c:strCache>
            </c:strRef>
          </c:cat>
          <c:val>
            <c:numRef>
              <c:numCache>
                <c:formatCode>General</c:formatCode>
                <c:ptCount val="7"/>
                <c:pt idx="0">
                  <c:v>10.2</c:v>
                </c:pt>
                <c:pt idx="1">
                  <c:v>7.6</c:v>
                </c:pt>
                <c:pt idx="2">
                  <c:v>3.8</c:v>
                </c:pt>
                <c:pt idx="3">
                  <c:v>1.7</c:v>
                </c:pt>
                <c:pt idx="4">
                  <c:v>1.4</c:v>
                </c:pt>
                <c:pt idx="5">
                  <c:v>1.3</c:v>
                </c:pt>
                <c:pt idx="6">
                  <c:v>1.1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b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dispBlanksAs val="gap"/>
  </c:chart>
</c:chartSpace>
</file>

<file path=ppt/slides/charts/chart2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显存规模对比（GB）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显存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2"/>
                <c:pt idx="0">
                  <c:v>论文 8×A6000 合计</c:v>
                </c:pt>
                <c:pt idx="1">
                  <c:v>本机单卡</c:v>
                </c:pt>
              </c:strCache>
            </c:strRef>
          </c:cat>
          <c:val>
            <c:numRef>
              <c:numCache>
                <c:formatCode>General</c:formatCode>
                <c:ptCount val="2"/>
                <c:pt idx="0">
                  <c:v>384</c:v>
                </c:pt>
                <c:pt idx="1">
                  <c:v>16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b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dispBlanksAs val="gap"/>
  </c:chart>
</c:chartSpace>
</file>

<file path=ppt/slides/charts/chart3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这一篇论文，钱花在哪（token）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token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3"/>
                <c:pt idx="0">
                  <c:v>生成幻灯片 · 首次</c:v>
                </c:pt>
                <c:pt idx="1">
                  <c:v>生成幻灯片 · 返工 1 次</c:v>
                </c:pt>
                <c:pt idx="2">
                  <c:v>讲稿与光标描述</c:v>
                </c:pt>
              </c:strCache>
            </c:strRef>
          </c:cat>
          <c:val>
            <c:numRef>
              <c:numCache>
                <c:formatCode>General</c:formatCode>
                <c:ptCount val="3"/>
                <c:pt idx="0">
                  <c:v>28525</c:v>
                </c:pt>
                <c:pt idx="1">
                  <c:v>9866</c:v>
                </c:pt>
                <c:pt idx="2">
                  <c:v>31569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609600" y="638175"/>
            <a:ext cx="43815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1181100" y="552450"/>
            <a:ext cx="1866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225">
                <a:solidFill>
                  <a:srgbClr val="8FB6E8"/>
                </a:solidFill>
                <a:latin typeface="Microsoft YaHei"/>
                <a:ea typeface="Microsoft YaHei"/>
              </a:rPr>
              <a:t>课程项目汇报</a:t>
            </a:r>
            <a:r>
              <a:rPr lang="en-US" sz="1275" spc="225">
                <a:solidFill>
                  <a:srgbClr val="8FB6E8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923925"/>
            <a:ext cx="10972800" cy="1619250"/>
          </a:xfrm>
          <a:prstGeom prst="rect"/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350" b="1">
                <a:solidFill>
                  <a:srgbClr val="FFFFFF"/>
                </a:solidFill>
                <a:latin typeface="Microsoft YaHei"/>
                <a:ea typeface="Microsoft YaHei"/>
              </a:rPr>
              <a:t>把一篇论文，</a:t>
            </a:r>
            <a:endParaRPr/>
          </a:p>
          <a:p>
            <a:pPr>
              <a:lnSpc>
                <a:spcPct val="122000"/>
              </a:lnSpc>
            </a:pPr>
            <a:r>
              <a:rPr lang="zh-CN" sz="4350" b="1">
                <a:solidFill>
                  <a:srgbClr val="FFFFFF"/>
                </a:solidFill>
                <a:latin typeface="Microsoft YaHei"/>
                <a:ea typeface="Microsoft YaHei"/>
              </a:rPr>
              <a:t>变成一段会讲课的视频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714625"/>
            <a:ext cx="1097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8">
                <a:solidFill>
                  <a:srgbClr val="B5D4F4"/>
                </a:solidFill>
                <a:latin typeface="Times New Roman"/>
                <a:ea typeface="Times New Roman"/>
              </a:rPr>
              <a:t>Automatic Video Generation from Scientific Papers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316230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基于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Paper2Video </a:t>
            </a: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的国产化替换与工程化改造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单卡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RTX 5070 Ti 16GB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638550"/>
            <a:ext cx="10972800" cy="215265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1"/>
          <a:srcRect l="54" t="0" r="54" b="0"/>
          <a:stretch>
            <a:fillRect/>
          </a:stretch>
        </p:blipFill>
        <p:spPr>
          <a:xfrm rot="0" flipH="0" flipV="0">
            <a:off x="609600" y="3638550"/>
            <a:ext cx="10972800" cy="2152650"/>
          </a:xfrm>
          <a:prstGeom prst="rect">
            <a:avLst/>
          </a:prstGeom>
          <a:ln/>
        </p:spPr>
      </p:pic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353175"/>
            <a:ext cx="548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姓名：＿＿＿＿　　学号：＿＿＿＿　　指导教师：＿＿＿＿　　日期：＿＿＿＿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858250" y="636270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图：论文</a:t>
            </a:r>
            <a:r>
              <a:rPr lang="en-US" sz="1125">
                <a:solidFill>
                  <a:srgbClr val="5C86BE"/>
                </a:solidFill>
                <a:latin typeface="Microsoft YaHei"/>
                <a:ea typeface="Microsoft YaHei"/>
              </a:rPr>
              <a:t> Fig.1</a:t>
            </a: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（</a:t>
            </a:r>
            <a:r>
              <a:rPr lang="en-US" sz="1125">
                <a:solidFill>
                  <a:srgbClr val="5C86BE"/>
                </a:solidFill>
                <a:latin typeface="Microsoft YaHei"/>
                <a:ea typeface="Microsoft YaHei"/>
              </a:rPr>
              <a:t>showlab/Paper2Video</a:t>
            </a: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背景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057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这件事难在哪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2847975" y="1028700"/>
            <a:ext cx="501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学术会议要求作者交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到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10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分钟的演讲视频，手工做一条要几个小时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81000" y="1485900"/>
            <a:ext cx="6553200" cy="3600450"/>
          </a:xfrm>
          <a:prstGeom prst="roundRect">
            <a:avLst>
              <a:gd name="adj" fmla="val 158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98" name=""/>
          <p:cNvPicPr>
            <a:picLocks noChangeAspect="1"/>
          </p:cNvPicPr>
          <p:nvPr/>
        </p:nvPicPr>
        <p:blipFill>
          <a:blip r:embed="rId1"/>
          <a:srcRect l="0" t="2739" r="0" b="2739"/>
          <a:stretch>
            <a:fillRect/>
          </a:stretch>
        </p:blipFill>
        <p:spPr>
          <a:xfrm rot="0" flipH="0" flipV="0">
            <a:off x="457200" y="1562100"/>
            <a:ext cx="6400800" cy="3448050"/>
          </a:xfrm>
          <a:prstGeom prst="rect">
            <a:avLst/>
          </a:prstGeom>
          <a:ln/>
        </p:spPr>
      </p:pic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81000" y="5181600"/>
            <a:ext cx="6553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PaperTalker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的方法总览：四个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builder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串成一条链（截自论文原图）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200900" y="1485900"/>
            <a:ext cx="4229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四件事必须同时对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200900" y="1857375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286625" y="190500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581900" y="18573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幻灯片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581900" y="2095500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要有能看的图表和标题，不是把正文搬上去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200900" y="2438400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286625" y="2486025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581900" y="24384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字幕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581900" y="2676525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每一句都要跟当前这张幻灯片对得上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7200900" y="3019425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286625" y="30670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581900" y="30194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光标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581900" y="3257550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跟着正在讲的那句话，指向画面里正确的位置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200900" y="3600450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286625" y="3648075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581900" y="360045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数字人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581900" y="3838575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用作者的头像和声音讲，口型还得对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7239000" y="4181475"/>
            <a:ext cx="4229100" cy="1228725"/>
          </a:xfrm>
          <a:prstGeom prst="roundRect">
            <a:avLst>
              <a:gd name="adj" fmla="val 310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7239000" y="4181475"/>
            <a:ext cx="4229100" cy="1228725"/>
          </a:xfrm>
          <a:custGeom>
            <a:pathLst>
              <a:path w="444" h="129">
                <a:moveTo>
                  <a:pt x="4" y="129"/>
                </a:moveTo>
                <a:cubicBezTo>
                  <a:pt x="2" y="129"/>
                  <a:pt x="0" y="127"/>
                  <a:pt x="0" y="125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2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391400" y="4362450"/>
            <a:ext cx="38862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难的不是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生成一段视频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，是让这四个通道互相对齐。论文的实测里，端到端模型只能出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秒，文字还是糊的。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81000" y="5562600"/>
            <a:ext cx="11430000" cy="609600"/>
          </a:xfrm>
          <a:prstGeom prst="roundRect">
            <a:avLst>
              <a:gd name="adj" fmla="val 9375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590550" y="578167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6E8"/>
                </a:solidFill>
                <a:latin typeface="Microsoft YaHei"/>
                <a:ea typeface="Microsoft YaHei"/>
              </a:rPr>
              <a:t>论文给的答案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600200" y="5762625"/>
            <a:ext cx="6467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PaperTalker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四个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 builder + 101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篇论文的评测基准，四项指标衡量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讲得怎么样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2886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arXiv 2510.05096v2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Show Lab, NUS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2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目标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三个约束，把方案钉死了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562475" y="1028700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论文跑在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张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A6000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上，我只有一张消费级卡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1485900"/>
            <a:ext cx="3810000" cy="4686300"/>
          </a:xfrm>
          <a:prstGeom prst="roundRect">
            <a:avLst>
              <a:gd name="adj" fmla="val 2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66750" y="18097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8FB6E8"/>
                </a:solidFill>
                <a:latin typeface="Microsoft YaHei"/>
                <a:ea typeface="Microsoft YaHei"/>
              </a:rPr>
              <a:t>我手上的卡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66750" y="2095500"/>
            <a:ext cx="3238500" cy="12573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7800" b="1">
                <a:solidFill>
                  <a:srgbClr val="FFFFFF"/>
                </a:solidFill>
                <a:latin typeface="Microsoft YaHei"/>
                <a:ea typeface="Microsoft YaHei"/>
              </a:rPr>
              <a:t>16GB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66750" y="3448050"/>
            <a:ext cx="3238500" cy="619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RTX 5070 Ti 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单卡</a:t>
            </a:r>
            <a:endParaRPr/>
          </a:p>
          <a:p>
            <a:pPr>
              <a:lnSpc>
                <a:spcPct val="150000"/>
              </a:lnSpc>
            </a:pP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Blackwell 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架构（</a:t>
            </a: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sm_120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66750" y="4876800"/>
            <a:ext cx="3238500" cy="95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66750" y="4962525"/>
            <a:ext cx="32385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论文的配置：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8 × A6000 48GB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单卡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 48GB</a:t>
            </a: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，合计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 384GB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66750" y="5629275"/>
            <a:ext cx="3238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差了</a:t>
            </a: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> 24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19600" y="1485900"/>
            <a:ext cx="7391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我给自己定了三个目标，后面每一个技术选择都是它们逼出来的：先能在单卡上跑通，模型全部换成国产开源，许可证必须干净到能交付。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4419600" y="2219325"/>
            <a:ext cx="7391400" cy="1790700"/>
          </a:xfrm>
          <a:prstGeom prst="roundRect">
            <a:avLst>
              <a:gd name="adj" fmla="val 31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graphicFrame>
        <p:nvGraphicFramePr>
          <p:cNvPr id="242" name="242"/>
          <p:cNvGraphicFramePr/>
          <p:nvPr/>
        </p:nvGraphicFramePr>
        <p:xfrm rot="0" flipH="0" flipV="0">
          <a:off x="4533900" y="2295525"/>
          <a:ext cx="7162800" cy="16383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243" name=""/>
          <p:cNvSpPr/>
          <p:nvPr/>
        </p:nvSpPr>
        <p:spPr>
          <a:xfrm rot="0" flipH="0" flipV="0">
            <a:off x="4419600" y="41624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581525" y="41243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显存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16GB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，而且架构很新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81525" y="43529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预编译好的算子经常用不了，现场编译又容易失败——几个模型就是死在这一步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419600" y="48482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581525" y="48101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许可证要能交付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581525" y="50387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论文原方案里的语音模型是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CC-BY-NC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，非商用——这类一律不碰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4419600" y="55340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581525" y="54959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能跑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排在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最好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前面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581525" y="57245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效果榜上排第一但装不上的模型，对我等于零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88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A6000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显存与数量取自论文实验设置；本机为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RTX 5070 Ti 16GB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方案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086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六个位置，全部换掉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76675" y="1028700"/>
            <a:ext cx="3562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不是为了效果更好，是为了先能在这张卡上跑起来</a:t>
            </a:r>
            <a:endParaRPr/>
          </a:p>
        </p:txBody>
      </p:sp>
      <p:graphicFrame>
        <p:nvGraphicFramePr>
          <p:cNvPr id="262" name=""/>
          <p:cNvGraphicFramePr/>
          <p:nvPr/>
        </p:nvGraphicFramePr>
        <p:xfrm rot="0" flipH="0" flipV="0">
          <a:off x="381000" y="1485900"/>
          <a:ext cx="11430000" cy="3924300"/>
        </p:xfrm>
        <a:graphic>
          <a:graphicData uri="http://schemas.openxmlformats.org/drawingml/2006/table">
            <a:tbl>
              <a:tblGrid>
                <a:gridCol w="1315025">
                  <a:extLst>
                    <a:ext uri="{9D8B030D-6E8A-4147-A177-3AD203B41FA5}">
                      <a16:colId val="1"/>
                    </a:ext>
                  </a:extLst>
                </a:gridCol>
                <a:gridCol w="2099334">
                  <a:extLst>
                    <a:ext uri="{9D8B030D-6E8A-4147-A177-3AD203B41FA5}">
                      <a16:colId val="2"/>
                    </a:ext>
                  </a:extLst>
                </a:gridCol>
                <a:gridCol w="3341157">
                  <a:extLst>
                    <a:ext uri="{9D8B030D-6E8A-4147-A177-3AD203B41FA5}">
                      <a16:colId val="3"/>
                    </a:ext>
                  </a:extLst>
                </a:gridCol>
                <a:gridCol w="467448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444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位置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论文用的模型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换成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为什么必须换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F5-TTS 0.34B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Qwen3-TTS-1.7B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原模型是 CC-BY-NC 非商用，不能交付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光标定位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UI-TARS-1.5-7B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GUI-Owl-1.5-4B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7B 的 bf16 要 15GB 以上，开箱就爆显存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转写对齐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WhisperX large-v3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Qwen3-ASR + ForcedAligner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依赖链更短，和光标那边共用一套模型家族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Hallo2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MuseTalk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原模型锁 CUDA 11.8，不含这台卡的编译目标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语言 + 视觉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GPT-4.1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DeepSeek-V4.1-Flash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支持原生图像输入，代码几乎不用改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视频理解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Gemini-2.5-Flash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Qwen3.5-Omni-Plus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DeepSeek 不支持视频，这一段只能换一家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63" name=""/>
          <p:cNvSpPr/>
          <p:nvPr/>
        </p:nvSpPr>
        <p:spPr>
          <a:xfrm rot="0" flipH="0" flipV="0">
            <a:off x="419100" y="5562600"/>
            <a:ext cx="11430000" cy="6096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419100" y="5562600"/>
            <a:ext cx="11430000" cy="609600"/>
          </a:xfrm>
          <a:custGeom>
            <a:pathLst>
              <a:path w="1200" h="64">
                <a:moveTo>
                  <a:pt x="4" y="64"/>
                </a:moveTo>
                <a:cubicBezTo>
                  <a:pt x="2" y="64"/>
                  <a:pt x="0" y="62"/>
                  <a:pt x="0" y="6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6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09600" y="578167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0E3F8C"/>
                </a:solidFill>
                <a:latin typeface="Microsoft YaHei"/>
                <a:ea typeface="Microsoft YaHei"/>
              </a:rPr>
              <a:t>换完的结果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85900" y="5581650"/>
            <a:ext cx="101346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本地侧从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个模型、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3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套环境收敛成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个模型家族，显存峰值从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24GB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以上压到约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10GB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API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侧几乎没动代码：上游本来就带兜底分支，传个参数就切过去了。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71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许可证：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Qwen3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系列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Apache-2.0 · GUI-Owl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MuseTalk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MIT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架构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1714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改在哪一层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2505075" y="1028700"/>
            <a:ext cx="3400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分三层看：哪一层是我们加的，哪一层原样不动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381000" y="1485900"/>
            <a:ext cx="11430000" cy="28575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81150"/>
            <a:ext cx="11239500" cy="2667000"/>
          </a:xfrm>
          <a:prstGeom prst="rect">
            <a:avLst/>
          </a:prstGeom>
          <a:ln/>
        </p:spPr>
      </p:pic>
      <p:sp>
        <p:nvSpPr>
          <p:cNvPr id="279" name=""/>
          <p:cNvSpPr/>
          <p:nvPr/>
        </p:nvSpPr>
        <p:spPr>
          <a:xfrm rot="0" flipH="0" flipV="0">
            <a:off x="381000" y="4495800"/>
            <a:ext cx="5619750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71500" y="46482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改动的规模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71500" y="4962525"/>
            <a:ext cx="5238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对上游目录一共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20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个文件：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12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个是修改，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8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个是新增。改动集中在输入层、平台适配和静默失败修复，算法主干原样保留——动了主干，就不好说自己在复现论文了。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571500" y="5791200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+3552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行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/ -260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191250" y="4495800"/>
            <a:ext cx="5619750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381750" y="46482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刻意没动的部分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381750" y="4962525"/>
            <a:ext cx="5238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四个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builder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的分工、树搜索的算法、按页独立生成的思路都保持原样。对上游的补丁随本仓库版本库一起走，搬到服务器上不用手工重打一遍。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381750" y="5791200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算法主干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处改动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改动量统计口径：首次引入上游代码的提交到当前版本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1 / 3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让输入没有门槛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4495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论文要求交一个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LaTeX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工程，可使用者手上只有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或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Word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381000" y="1485900"/>
            <a:ext cx="7353300" cy="990600"/>
          </a:xfrm>
          <a:prstGeom prst="roundRect">
            <a:avLst>
              <a:gd name="adj" fmla="val 576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81150"/>
            <a:ext cx="7162800" cy="800100"/>
          </a:xfrm>
          <a:prstGeom prst="rect">
            <a:avLst/>
          </a:prstGeom>
          <a:ln/>
        </p:spPr>
      </p:pic>
      <p:sp>
        <p:nvSpPr>
          <p:cNvPr id="299" name=""/>
          <p:cNvSpPr/>
          <p:nvPr/>
        </p:nvSpPr>
        <p:spPr>
          <a:xfrm rot="0" flipH="0" flipV="0">
            <a:off x="381000" y="26574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42925" y="26289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不用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 Office / WPS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的自动化接口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42925" y="28670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它会连上你正开着的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WPS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，然后挂死两分半钟——一律改成纯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Python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处理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381000" y="34575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542925" y="34290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PDF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提取必须做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行合并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42925" y="36671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按列宽把一句话硬切成半句，不合并的话交给模型的是碎片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42576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42925" y="42291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三种格式里，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PDF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反而最好用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42925" y="44672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真实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Word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根本不用标题样式，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docx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在结构上没有便宜可占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19100" y="5067300"/>
            <a:ext cx="7353300" cy="1104900"/>
          </a:xfrm>
          <a:prstGeom prst="roundRect">
            <a:avLst>
              <a:gd name="adj" fmla="val 3448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419100" y="5067300"/>
            <a:ext cx="7353300" cy="1104900"/>
          </a:xfrm>
          <a:custGeom>
            <a:pathLst>
              <a:path w="772" h="116">
                <a:moveTo>
                  <a:pt x="4" y="116"/>
                </a:moveTo>
                <a:cubicBezTo>
                  <a:pt x="2" y="116"/>
                  <a:pt x="0" y="114"/>
                  <a:pt x="0" y="112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90550" y="5200650"/>
            <a:ext cx="6972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0E3F8C"/>
                </a:solidFill>
                <a:latin typeface="Microsoft YaHei"/>
                <a:ea typeface="Microsoft YaHei"/>
              </a:rPr>
              <a:t>判断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90550" y="5429250"/>
            <a:ext cx="69723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第三个结论和直觉相反。我一开始也以为结构更规整的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docx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会更好，实测之后才发现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的噪声最少，所以现在默认优先用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PDF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962900" y="1485900"/>
            <a:ext cx="3848100" cy="2514600"/>
          </a:xfrm>
          <a:prstGeom prst="roundRect">
            <a:avLst>
              <a:gd name="adj" fmla="val 227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13" name=""/>
          <p:cNvPicPr>
            <a:picLocks noChangeAspect="1"/>
          </p:cNvPicPr>
          <p:nvPr/>
        </p:nvPicPr>
        <p:blipFill>
          <a:blip r:embed="rId2"/>
          <a:srcRect l="0" t="7388" r="0" b="7388"/>
          <a:stretch>
            <a:fillRect/>
          </a:stretch>
        </p:blipFill>
        <p:spPr>
          <a:xfrm rot="0" flipH="0" flipV="0">
            <a:off x="8039100" y="1562100"/>
            <a:ext cx="3695700" cy="2362200"/>
          </a:xfrm>
          <a:prstGeom prst="rect">
            <a:avLst/>
          </a:prstGeom>
          <a:ln/>
        </p:spPr>
      </p:pic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962900" y="4095750"/>
            <a:ext cx="38481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本机流水线真实渲染出来的幻灯片（第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页），位于转换层下游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7962900" y="4400550"/>
            <a:ext cx="3848100" cy="17716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115300" y="4562475"/>
            <a:ext cx="3543300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Microsoft YaHei"/>
                <a:ea typeface="Microsoft YaHei"/>
              </a:rPr>
              <a:t>1.3%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115300" y="5305425"/>
            <a:ext cx="35433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结构化撞到输出上限时被截掉的正文比例（本机实测）。截断点选在最后一个环境配平的位置，补上结束标记后照样编译通过。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结构化输出上限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65536 token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，超限先续写最多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轮，仍不全才截断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3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2 / 3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086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幻灯片里终于有图了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76675" y="1028700"/>
            <a:ext cx="3162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这张图是从论文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里提出来的，不是画的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81000" y="1485900"/>
            <a:ext cx="6096000" cy="4076700"/>
          </a:xfrm>
          <a:prstGeom prst="roundRect">
            <a:avLst>
              <a:gd name="adj" fmla="val 140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29" name=""/>
          <p:cNvPicPr>
            <a:picLocks noChangeAspect="1"/>
          </p:cNvPicPr>
          <p:nvPr/>
        </p:nvPicPr>
        <p:blipFill>
          <a:blip r:embed="rId1"/>
          <a:srcRect l="0" t="7524" r="0" b="7524"/>
          <a:stretch>
            <a:fillRect/>
          </a:stretch>
        </p:blipFill>
        <p:spPr>
          <a:xfrm rot="0" flipH="0" flipV="0">
            <a:off x="457200" y="1562100"/>
            <a:ext cx="5943600" cy="3924300"/>
          </a:xfrm>
          <a:prstGeom prst="rect">
            <a:avLst/>
          </a:prstGeom>
          <a:ln/>
        </p:spPr>
      </p:pic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81000" y="5676900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提取结果：论文第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6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页的插图，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1984 × 1542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，输出为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JPEG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落入工程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figures/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705600" y="1485900"/>
            <a:ext cx="51054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模型一张图都没引用，这不是它偷懒——它按提示词做对了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705600" y="19050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915150" y="19526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7505700" y="19050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我们从前端只提取正文，所以工程里就只有一个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main.tex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，没有任何图片文件可以被引用。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705600" y="28575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915150" y="29051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Microsoft YaHei"/>
                <a:ea typeface="Microsoft YaHei"/>
              </a:rPr>
              <a:t>线索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505700" y="28575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中文提示词里写着一句话：若没有可用图片，不要写任何图片引用。所以零张图是正确输出。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705600" y="38100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F7C1C1"/>
          </a:solidFill>
          <a:ln/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915150" y="38576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791F1F"/>
                </a:solidFill>
                <a:latin typeface="Microsoft YaHei"/>
                <a:ea typeface="Microsoft YaHei"/>
              </a:rPr>
              <a:t>后果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505700" y="38100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树搜索只会缩放图片宽度。没有图，论文这条核心机制就没有任何可做的事——下一页细说。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743700" y="4762500"/>
            <a:ext cx="5105400" cy="1409700"/>
          </a:xfrm>
          <a:prstGeom prst="roundRect">
            <a:avLst>
              <a:gd name="adj" fmla="val 270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743700" y="4762500"/>
            <a:ext cx="5105400" cy="1409700"/>
          </a:xfrm>
          <a:custGeom>
            <a:pathLst>
              <a:path w="536" h="148">
                <a:moveTo>
                  <a:pt x="4" y="148"/>
                </a:moveTo>
                <a:cubicBezTo>
                  <a:pt x="2" y="148"/>
                  <a:pt x="0" y="146"/>
                  <a:pt x="0" y="14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915150" y="5057775"/>
            <a:ext cx="133350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2 </a:t>
            </a:r>
            <a:r>
              <a:rPr lang="zh-CN" sz="3600" b="1">
                <a:solidFill>
                  <a:srgbClr val="0E3F8C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915150" y="565785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从论文里提出来的插图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8515350" y="5172075"/>
            <a:ext cx="9525" cy="59055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>
            <a:pPr/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791575" y="5057775"/>
            <a:ext cx="173355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2 </a:t>
            </a:r>
            <a:r>
              <a:rPr lang="zh-CN" sz="3600" b="1">
                <a:solidFill>
                  <a:srgbClr val="0E3F8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791575" y="5657850"/>
            <a:ext cx="17335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幻灯片源码里对应的图片引用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14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日志原文：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[figures]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提取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张（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pdf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）→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已把清单附给幻灯片生成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350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核心功能 3 / 3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网页能点，钱花在明处&lt;/Text&gt;&#10;            &lt;Text style={{ fontSize: 17, color: '#8B97A8', marginLeft: 6 }}&gt;要联网的只有三步，产物按输入指纹存下来&lt;/Text&gt;&#10;        &lt;/Box&gt;&#10;&#10;        &lt;Box style={{ height: 492, flexDirection: 'row', gap: 24 }}&gt;&#10;            &lt;Box style={{ width: 372, height: 492, background: '#E8EFF8', borderLeft: '5px solid #1E4FA8', borderRadius: 6, padding: '30px 26px', flexDirection: 'column', justifyContent: 'space-between' }}&gt;&#10;                &lt;Box style={{ flexDirection: 'column', gap: 8 }}&gt;&#10;                    &lt;Text style={{ fontSize: 15, color: '#1E4FA8', letterSpacing: 2 }}&gt;同一篇论文 · 一次生成&lt;/Text&gt;&#10;                    &lt;Text style={{ fontSize: 76, fontWeight: 'bold', color: '#0E3F8C', lineHeight: 1.05 }}&gt;6.9万&lt;/Text&gt;&#10;                    &lt;Text style={{ fontSize: 16, color: '#4A5568', lineHeight: 1.5 }}&gt;幻灯片与讲稿这两步合计的 token，全部来自同一篇、同一次运行&lt;/Text&gt;&#10;                &lt;/Box&gt;&#10;&#10;                &lt;Box style={{ flexDirection: 'column', gap: 8 }}&gt;&#10;                    &lt;Box style={{ height: 1, background: '#B5D4F4' }} /&gt;&#10;                    &lt;Text style={{ fontSize: 15, color: '#4A5568', lineHeight: 1.5 }}&gt;命中缓存后，同参数再跑一次&lt;/Text&gt;&#10;                    &lt;Text style={{ fontSize: 30, fontWeight: 'bold', color: '#0E3F8C' }}&gt;0 次联网调用&lt;/Text&gt;&#10;                &lt;/Box&gt;&#10;            &lt;/Box&gt;&#10;&#10;            &lt;Box style={{ width: 780, height: 492, flexDirection: 'column', gap: 14 }}&gt;&#10;                &lt;Text style={{ fontSize: 18, color: '#1A2230', lineHeight: 1.5 }}&gt;要调云端的是这三步：把正文结构化成 LaTeX 工程、生成幻灯片、写讲稿与光标描述。它们的产物各按输入指纹存一份，命中就整段跳过，不重复计费。&lt;/Text&gt;&#10;&#10;                &lt;Box style={{ height: 240, background: '#F7F9FC', border: '1px solid #D6DCE5', borderRadius: 6, padding: '8px 12px' }}&gt;&#10;                    &lt;Chart&#10;                        style={{ width: '100%', height: 224 }}&#10;                        chartType='barChart'&#10;                        barDirection='column'&#10;                        grouping='clustered'&#10;                        title='这一篇论文，钱花在哪（token）'&#10;                        titleColor='#0E3F8C'&#10;                        showLegend={false}&#10;                        showDataLabels={true}&#10;                        axisColor='#8B97A8'&#10;                        dataLabelColor='#1A2230'&#10;                        colors={['#1E4FA8']}&#10;                        data={[&#10;                            ['环节', 'token'],&#10;                            ['生成幻灯片 · 首次', 28525],&#10;                            ['生成幻灯片 · 返工 1 次', 9866],&#10;                            ['讲稿与光标描述', 31569],&#10;                        ]}&#10;                    /&gt;&#10;                &lt;/Box&gt;&#10;&#10;                &lt;Box style={{ flex: 1, background: '#F7F9FC', border: '1px solid #D6DCE5', borderRadius: 6, padding: '14px 18px', flexDirection: 'column', justifyContent: 'center', gap: 6 }}&gt;&#10;                    &lt;Text style={{ fontSize: 15, fontWeight: 'bold', color: '#1E4FA8', letterSpacing: 1 }}&gt;为什么只放同一篇的数据&lt;/Text&gt;&#10;                    &lt;Text style={{ fontSize: 16, color: '#4A5568', lineHeight: 1.45 }}&gt;换一篇论文，token 数立刻被两件事改写：论文有多长，以及幻灯片要返工几次。所以不同论文之间的数字没法互相比较——这一页只给同一篇内部的构成，那才是能对齐着看的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数据来源：一次完整跑通的任务，token.json 按&quot;幻灯片桶 + 讲稿桶&quot;拆分&lt;/Text&gt;&#10;        &lt;Text style={{ fontSize: 16, fontWeight: 'bold', color: '#0E3F8C' }}&gt;08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3 / 3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网页能点，钱花在明处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4219575" y="1028700"/>
            <a:ext cx="3076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要联网的只有三步，产物按输入指纹存下来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428625" y="1485900"/>
            <a:ext cx="3495675" cy="4686300"/>
          </a:xfrm>
          <a:prstGeom prst="roundRect">
            <a:avLst>
              <a:gd name="adj" fmla="val 16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428625" y="1485900"/>
            <a:ext cx="3495675" cy="4686300"/>
          </a:xfrm>
          <a:custGeom>
            <a:pathLst>
              <a:path w="367" h="492">
                <a:moveTo>
                  <a:pt x="6" y="0"/>
                </a:moveTo>
                <a:cubicBezTo>
                  <a:pt x="5" y="0"/>
                  <a:pt x="5" y="0"/>
                  <a:pt x="5" y="1"/>
                </a:cubicBezTo>
                <a:lnTo>
                  <a:pt x="5" y="491"/>
                </a:lnTo>
                <a:cubicBezTo>
                  <a:pt x="5" y="492"/>
                  <a:pt x="5" y="492"/>
                  <a:pt x="6" y="492"/>
                </a:cubicBezTo>
                <a:cubicBezTo>
                  <a:pt x="3" y="492"/>
                  <a:pt x="0" y="489"/>
                  <a:pt x="0" y="48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76275" y="1771650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1E4FA8"/>
                </a:solidFill>
                <a:latin typeface="Microsoft YaHei"/>
                <a:ea typeface="Microsoft YaHei"/>
              </a:rPr>
              <a:t>同一篇论文</a:t>
            </a:r>
            <a:r>
              <a:rPr lang="en-US" sz="1125" spc="150">
                <a:solidFill>
                  <a:srgbClr val="1E4FA8"/>
                </a:solidFill>
                <a:latin typeface="Microsoft YaHei"/>
                <a:ea typeface="Microsoft YaHei"/>
              </a:rPr>
              <a:t> · </a:t>
            </a:r>
            <a:r>
              <a:rPr lang="zh-CN" sz="1125" spc="150">
                <a:solidFill>
                  <a:srgbClr val="1E4FA8"/>
                </a:solidFill>
                <a:latin typeface="Microsoft YaHei"/>
                <a:ea typeface="Microsoft YaHei"/>
              </a:rPr>
              <a:t>一次生成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76275" y="2019300"/>
            <a:ext cx="3000375" cy="914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5700" b="1">
                <a:solidFill>
                  <a:srgbClr val="0E3F8C"/>
                </a:solidFill>
                <a:latin typeface="Microsoft YaHei"/>
                <a:ea typeface="Microsoft YaHei"/>
              </a:rPr>
              <a:t>6.9</a:t>
            </a:r>
            <a:r>
              <a:rPr lang="zh-CN" sz="5700" b="1">
                <a:solidFill>
                  <a:srgbClr val="0E3F8C"/>
                </a:solidFill>
                <a:latin typeface="Microsoft YaHei"/>
                <a:ea typeface="Microsoft YaHei"/>
              </a:rPr>
              <a:t>万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76275" y="3009900"/>
            <a:ext cx="3000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幻灯片与讲稿这两步合计的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token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，全部来自同一篇、同一次运行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676275" y="5124450"/>
            <a:ext cx="3000375" cy="9525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76275" y="5210175"/>
            <a:ext cx="30003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命中缓存后，同参数再跑一次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76275" y="5543550"/>
            <a:ext cx="3000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0 </a:t>
            </a:r>
            <a:r>
              <a:rPr lang="zh-CN" sz="2250" b="1">
                <a:solidFill>
                  <a:srgbClr val="0E3F8C"/>
                </a:solidFill>
                <a:latin typeface="Microsoft YaHei"/>
                <a:ea typeface="Microsoft YaHei"/>
              </a:rPr>
              <a:t>次联网调用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4152900" y="1485900"/>
            <a:ext cx="7429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要调云端的是这三步：把正文结构化成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LaTeX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工程、生成幻灯片、写讲稿与光标描述。它们的产物各按输入指纹存一份，命中就整段跳过，不重复计费。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152900" y="2238375"/>
            <a:ext cx="7429500" cy="22860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graphicFrame>
        <p:nvGraphicFramePr>
          <p:cNvPr id="368" name="368"/>
          <p:cNvGraphicFramePr/>
          <p:nvPr/>
        </p:nvGraphicFramePr>
        <p:xfrm rot="0" flipH="0" flipV="0">
          <a:off x="4267200" y="2314575"/>
          <a:ext cx="7200900" cy="21336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369" name=""/>
          <p:cNvSpPr/>
          <p:nvPr/>
        </p:nvSpPr>
        <p:spPr>
          <a:xfrm rot="0" flipH="0" flipV="0">
            <a:off x="4152900" y="4657725"/>
            <a:ext cx="7429500" cy="1514475"/>
          </a:xfrm>
          <a:prstGeom prst="roundRect">
            <a:avLst>
              <a:gd name="adj" fmla="val 377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324350" y="5038725"/>
            <a:ext cx="708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为什么只放同一篇的数据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324350" y="5267325"/>
            <a:ext cx="708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换一篇论文，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token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数立刻被两件事改写：论文有多长，以及幻灯片要返工几次。所以不同论文之间的数字没法互相比较——这一页只给同一篇内部的构成，那才是能对齐着看的。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433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数据来源：一次完整跑通的任务，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token.json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幻灯片桶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讲稿桶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拆分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3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1 / 4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数字人换了三次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2914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论文用的那个，在这张卡上一步都走不动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83" name=""/>
          <p:cNvPicPr>
            <a:picLocks noChangeAspect="1"/>
          </p:cNvPicPr>
          <p:nvPr/>
        </p:nvPicPr>
        <p:blipFill>
          <a:blip r:embed="rId1"/>
          <a:srcRect l="980" t="0" r="980" b="0"/>
          <a:stretch>
            <a:fillRect/>
          </a:stretch>
        </p:blipFill>
        <p:spPr>
          <a:xfrm rot="0" flipH="0" flipV="0">
            <a:off x="419100" y="1524000"/>
            <a:ext cx="1857375" cy="2914650"/>
          </a:xfrm>
          <a:prstGeom prst="rect">
            <a:avLst/>
          </a:prstGeom>
          <a:ln/>
        </p:spPr>
      </p:pic>
      <p:sp>
        <p:nvSpPr>
          <p:cNvPr id="384" name=""/>
          <p:cNvSpPr/>
          <p:nvPr/>
        </p:nvSpPr>
        <p:spPr>
          <a:xfrm rot="0" flipH="0" flipV="0">
            <a:off x="2543175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85" name=""/>
          <p:cNvPicPr>
            <a:picLocks noChangeAspect="1"/>
          </p:cNvPicPr>
          <p:nvPr/>
        </p:nvPicPr>
        <p:blipFill>
          <a:blip r:embed="rId2"/>
          <a:srcRect l="980" t="0" r="980" b="0"/>
          <a:stretch>
            <a:fillRect/>
          </a:stretch>
        </p:blipFill>
        <p:spPr>
          <a:xfrm rot="0" flipH="0" flipV="0">
            <a:off x="2581275" y="1524000"/>
            <a:ext cx="1857375" cy="2914650"/>
          </a:xfrm>
          <a:prstGeom prst="rect">
            <a:avLst/>
          </a:prstGeom>
          <a:ln/>
        </p:spPr>
      </p:pic>
      <p:sp>
        <p:nvSpPr>
          <p:cNvPr id="386" name=""/>
          <p:cNvSpPr/>
          <p:nvPr/>
        </p:nvSpPr>
        <p:spPr>
          <a:xfrm rot="0" flipH="0" flipV="0">
            <a:off x="4705350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87" name=""/>
          <p:cNvPicPr>
            <a:picLocks noChangeAspect="1"/>
          </p:cNvPicPr>
          <p:nvPr/>
        </p:nvPicPr>
        <p:blipFill>
          <a:blip r:embed="rId3"/>
          <a:srcRect l="980" t="0" r="980" b="0"/>
          <a:stretch>
            <a:fillRect/>
          </a:stretch>
        </p:blipFill>
        <p:spPr>
          <a:xfrm rot="0" flipH="0" flipV="0">
            <a:off x="4743450" y="1524000"/>
            <a:ext cx="1857375" cy="2914650"/>
          </a:xfrm>
          <a:prstGeom prst="rect">
            <a:avLst/>
          </a:prstGeom>
          <a:ln/>
        </p:spPr>
      </p:pic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461010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从本机跑出来的数字人片段里抽的帧：第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页、第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页、第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15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页。是产物，不是效果图。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419100" y="4953000"/>
            <a:ext cx="6286500" cy="1219200"/>
          </a:xfrm>
          <a:prstGeom prst="roundRect">
            <a:avLst>
              <a:gd name="adj" fmla="val 3125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19100" y="4953000"/>
            <a:ext cx="6286500" cy="1219200"/>
          </a:xfrm>
          <a:custGeom>
            <a:pathLst>
              <a:path w="660" h="128">
                <a:moveTo>
                  <a:pt x="4" y="128"/>
                </a:moveTo>
                <a:cubicBezTo>
                  <a:pt x="2" y="128"/>
                  <a:pt x="0" y="126"/>
                  <a:pt x="0" y="12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2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590550" y="5210175"/>
            <a:ext cx="1247775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300" b="1">
                <a:solidFill>
                  <a:srgbClr val="0E3F8C"/>
                </a:solidFill>
                <a:latin typeface="Microsoft YaHei"/>
                <a:ea typeface="Microsoft YaHei"/>
              </a:rPr>
              <a:t>3.8GB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590550" y="5762625"/>
            <a:ext cx="1247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最终模型的权重体积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2085975" y="5286375"/>
            <a:ext cx="9525" cy="55245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343150" y="5210175"/>
            <a:ext cx="2400300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300" b="1">
                <a:solidFill>
                  <a:srgbClr val="0E3F8C"/>
                </a:solidFill>
                <a:latin typeface="Microsoft YaHei"/>
                <a:ea typeface="Microsoft YaHei"/>
              </a:rPr>
              <a:t>1024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343150" y="5762625"/>
            <a:ext cx="240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注意力序列长度，比上一代小约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1270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896100" y="1485900"/>
            <a:ext cx="49149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为了把数字人跑起来，我换过三次模型。每一次都是被一个具体的障碍挡下来的。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6896100" y="2200275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972300" y="22383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7239000" y="2200275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Hallo2 ·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论文原方案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239000" y="2428875"/>
            <a:ext cx="4572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锁死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CUDA 11.8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，编译目标里根本没有这台卡，直接出局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6896100" y="2771775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972300" y="28098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239000" y="2771775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InfiniteTalk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239000" y="3000375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fp8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加载会触发算子现场编译，而本机编译器不认识新的计算能力代号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896100" y="3581400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972300" y="36195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239000" y="35814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LongCat-Video-Avatar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7239000" y="3810000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不用现场编译了，但权重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41.7GB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、依赖一个装不上的注意力库，单卡放不下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896100" y="4381500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972300" y="44196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7239000" y="43815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MuseTalk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现在用的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239000" y="4610100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只做人脸那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256×256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一块，注意力序列短了三个数量级，用标准实现就够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6896100" y="5229225"/>
            <a:ext cx="4914900" cy="942975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7048500" y="5343525"/>
            <a:ext cx="461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代价说清楚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048500" y="5553075"/>
            <a:ext cx="4610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这三次不是反复试错，是障碍一个一个被排除。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MuseTalk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只做头部，画质不如论文原来那个——这是换来的代价。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序列长度对比：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LongCat 36480 → MuseTalk 1024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2 / 4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5143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论文的核心机制，在我这儿空转了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381000" y="1485900"/>
            <a:ext cx="3238500" cy="323850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57200" y="1562100"/>
            <a:ext cx="3086100" cy="3086100"/>
          </a:xfrm>
          <a:prstGeom prst="rect">
            <a:avLst/>
          </a:prstGeom>
          <a:ln/>
        </p:spPr>
      </p:pic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0" y="1952625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VLM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看到的就是这张图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3810000" y="2276475"/>
            <a:ext cx="3238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四个象限是同一页的四个版本：图片宽度分别是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0.25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0.5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0.75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1.0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。规则负责生成候选，模型只负责挑一个。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3810000" y="3124200"/>
            <a:ext cx="3238500" cy="89535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924300" y="3219450"/>
            <a:ext cx="30099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reason: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「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A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、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B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把右侧轴裁掉了；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C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的标签顶到边缘出现截断；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D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把所有元素和图注都完整保留」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  choice: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「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D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」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810000" y="4114800"/>
            <a:ext cx="3238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论文里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VLM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返回的判定，格式就是这样的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JSON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838700"/>
            <a:ext cx="6667500" cy="104775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 r:embed="rId2"/>
          <a:srcRect l="0" t="11160" r="0" b="11160"/>
          <a:stretch>
            <a:fillRect/>
          </a:stretch>
        </p:blipFill>
        <p:spPr>
          <a:xfrm rot="0" flipH="0" flipV="0">
            <a:off x="438150" y="4895850"/>
            <a:ext cx="6553200" cy="9334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381000" y="5943600"/>
            <a:ext cx="6667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四个宽度候选的原始渲染（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0.25 / 0.5 / 0.75 / 1.0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），本机跑出来的真实文件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277100" y="1485900"/>
            <a:ext cx="45339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我在界面上打开了这个开关，觉得出片很快，就去后台查它到底有没有干活。结论是：开关生效了，代码也执行了，但一页都没改进过。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15200" y="2476500"/>
            <a:ext cx="4533900" cy="1466850"/>
          </a:xfrm>
          <a:prstGeom prst="roundRect">
            <a:avLst>
              <a:gd name="adj" fmla="val 2597"/>
            </a:avLst>
          </a:prstGeom>
          <a:solidFill>
            <a:srgbClr val="FCEB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7315200" y="2476500"/>
            <a:ext cx="4533900" cy="1466850"/>
          </a:xfrm>
          <a:custGeom>
            <a:pathLst>
              <a:path w="476" h="154">
                <a:moveTo>
                  <a:pt x="4" y="154"/>
                </a:moveTo>
                <a:cubicBezTo>
                  <a:pt x="2" y="154"/>
                  <a:pt x="0" y="152"/>
                  <a:pt x="0" y="1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54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467600" y="260985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A32D2D"/>
                </a:solidFill>
                <a:latin typeface="Microsoft YaHei"/>
                <a:ea typeface="Microsoft YaHei"/>
              </a:rPr>
              <a:t>差点被骗过去的地方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这个函数会无条件重写一份改进版的幻灯片源码。所以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产物变了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出现了新文件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都不能当证据。可靠的判据只有一个：它工作时产生的那个目录空不空。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277100" y="4057650"/>
            <a:ext cx="4533900" cy="2114550"/>
          </a:xfrm>
          <a:prstGeom prst="roundRect">
            <a:avLst>
              <a:gd name="adj" fmla="val 270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448550" y="421005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同一个机制，两个结果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448550" y="4438650"/>
            <a:ext cx="1304925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1E4FA8"/>
                </a:solidFill>
                <a:latin typeface="Microsoft YaHei"/>
                <a:ea typeface="Microsoft YaHei"/>
              </a:rPr>
              <a:t>7 </a:t>
            </a:r>
            <a:r>
              <a:rPr lang="zh-CN" sz="3450" b="1">
                <a:solidFill>
                  <a:srgbClr val="1E4FA8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448550" y="5010150"/>
            <a:ext cx="1304925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跑论文自带的工程时</a:t>
            </a:r>
            <a:endParaRPr/>
          </a:p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真实发生的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VLM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调用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8982075" y="4591050"/>
            <a:ext cx="9525" cy="72390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9220200" y="4438650"/>
            <a:ext cx="933450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8B97A8"/>
                </a:solidFill>
                <a:latin typeface="Microsoft YaHei"/>
                <a:ea typeface="Microsoft YaHei"/>
              </a:rPr>
              <a:t>0 </a:t>
            </a:r>
            <a:r>
              <a:rPr lang="zh-CN" sz="3450" b="1">
                <a:solidFill>
                  <a:srgbClr val="8B97A8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220200" y="5010150"/>
            <a:ext cx="93345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换成只看正文的</a:t>
            </a:r>
            <a:endParaRPr/>
          </a:p>
          <a:p>
            <a:pPr>
              <a:lnSpc>
                <a:spcPct val="14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PDF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链路之后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7448550" y="5514975"/>
            <a:ext cx="41910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它的入选门槛是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排版溢出的页，而且那一页得有图片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。我们的工程里一张图都没有，所以它一次都没被触发。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733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所以上一页那件事不是锦上添花，是这条机制能不能存在的前提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3 / 4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5337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单卡</a:t>
            </a:r>
            <a:r>
              <a:rPr lang="en-US" sz="2700" b="1">
                <a:solidFill>
                  <a:srgbClr val="0E3F8C"/>
                </a:solidFill>
                <a:latin typeface="Microsoft YaHei"/>
                <a:ea typeface="Microsoft YaHei"/>
              </a:rPr>
              <a:t> 16GB </a:t>
            </a: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的连锁反应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419100" y="1466850"/>
            <a:ext cx="11430000" cy="533400"/>
          </a:xfrm>
          <a:prstGeom prst="roundRect">
            <a:avLst>
              <a:gd name="adj" fmla="val 714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419100" y="1466850"/>
            <a:ext cx="11430000" cy="533400"/>
          </a:xfrm>
          <a:custGeom>
            <a:pathLst>
              <a:path w="1200" h="56">
                <a:moveTo>
                  <a:pt x="4" y="56"/>
                </a:moveTo>
                <a:cubicBezTo>
                  <a:pt x="2" y="56"/>
                  <a:pt x="0" y="54"/>
                  <a:pt x="0" y="52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5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1647825"/>
            <a:ext cx="609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先问一句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371600" y="1628775"/>
            <a:ext cx="5724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一条论文从结构化到出片，本机实测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27.2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分钟。时间到底花在哪一步？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381000" y="2133600"/>
            <a:ext cx="11430000" cy="2762250"/>
          </a:xfrm>
          <a:prstGeom prst="roundRect">
            <a:avLst>
              <a:gd name="adj" fmla="val 206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graphicFrame>
        <p:nvGraphicFramePr>
          <p:cNvPr id="57" name="57"/>
          <p:cNvGraphicFramePr/>
          <p:nvPr/>
        </p:nvGraphicFramePr>
        <p:xfrm rot="0" flipH="0" flipV="0">
          <a:off x="495300" y="2190750"/>
          <a:ext cx="11201400" cy="264795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58" name=""/>
          <p:cNvSpPr/>
          <p:nvPr/>
        </p:nvSpPr>
        <p:spPr>
          <a:xfrm rot="0" flipH="0" flipV="0">
            <a:off x="381000" y="5029200"/>
            <a:ext cx="11430000" cy="1123950"/>
          </a:xfrm>
          <a:prstGeom prst="roundRect">
            <a:avLst>
              <a:gd name="adj" fmla="val 508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571500" y="5114925"/>
            <a:ext cx="581025" cy="4857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3.8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71500" y="5629275"/>
            <a:ext cx="581025" cy="4381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联网的</a:t>
            </a:r>
            <a:endParaRPr/>
          </a:p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分钟数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1381125" y="5276850"/>
            <a:ext cx="9525" cy="6286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619250" y="5114925"/>
            <a:ext cx="819150" cy="4857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000" b="1">
                <a:solidFill>
                  <a:srgbClr val="8B97A8"/>
                </a:solidFill>
                <a:latin typeface="Microsoft YaHei"/>
                <a:ea typeface="Microsoft YaHei"/>
              </a:rPr>
              <a:t>23.3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619250" y="5629275"/>
            <a:ext cx="819150" cy="4381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本机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GPU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的</a:t>
            </a:r>
            <a:endParaRPr/>
          </a:p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分钟数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2667000" y="5276850"/>
            <a:ext cx="9525" cy="6286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2905125" y="5324475"/>
            <a:ext cx="871537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论文用多进程池把各页摊到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8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张卡上并行，每个进程各持一份完整权重——这在单卡上必然爆显存，只能改成串行、按阶段加载再卸载。峰值显存从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24GB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以上压到约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10GB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，代价就是那个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倍加速我拿不到。搬到多卡服务器上，这个并行应该加回来。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752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数据来源：一次完整跑通的任务日志（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result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job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记录一致）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4 / 4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程序说成功，产物是坏的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381000" y="1485900"/>
            <a:ext cx="7429500" cy="2247900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552450" y="1638300"/>
            <a:ext cx="47625" cy="24765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95325" y="1638300"/>
            <a:ext cx="2200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一、写幻灯片源码的时候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552450" y="20002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8B97A8"/>
                </a:solidFill>
                <a:latin typeface="Microsoft YaHei"/>
                <a:ea typeface="Microsoft YaHei"/>
              </a:rPr>
              <a:t>程序说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85800" y="23336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编译退出码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0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，只在日志里留下一行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有非法字节被替换成替换字符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的提示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4171950" y="20002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305300" y="21145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A32D2D"/>
                </a:solidFill>
                <a:latin typeface="Microsoft YaHei"/>
                <a:ea typeface="Microsoft YaHei"/>
              </a:rPr>
              <a:t>实际是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305300" y="23336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渲染出来的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里中文全部消失——从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里回抽文字，三个中文判据全是假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81000" y="3924300"/>
            <a:ext cx="7429500" cy="2247900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552450" y="4076700"/>
            <a:ext cx="47625" cy="24765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95325" y="4076700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二、生成数字人的时候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552450" y="44386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45529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8B97A8"/>
                </a:solidFill>
                <a:latin typeface="Microsoft YaHei"/>
                <a:ea typeface="Microsoft YaHei"/>
              </a:rPr>
              <a:t>程序说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47720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打印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结果已保存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，耗时也正常，没有任何异常堆栈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4171950" y="44386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305300" y="45529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A32D2D"/>
                </a:solidFill>
                <a:latin typeface="Microsoft YaHei"/>
                <a:ea typeface="Microsoft YaHei"/>
              </a:rPr>
              <a:t>实际是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4305300" y="47720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产物是一个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字节的空文件——整批页都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跑完了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，却一页都没生成出来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8039100" y="1485900"/>
            <a:ext cx="3771900" cy="1676400"/>
          </a:xfrm>
          <a:prstGeom prst="roundRect">
            <a:avLst>
              <a:gd name="adj" fmla="val 4545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267700" y="1809750"/>
            <a:ext cx="331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8FB6E8"/>
                </a:solidFill>
                <a:latin typeface="Microsoft YaHei"/>
                <a:ea typeface="Microsoft YaHei"/>
              </a:rPr>
              <a:t>两次都指向同一条判据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267700" y="2057400"/>
            <a:ext cx="3314700" cy="7810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退出码</a:t>
            </a: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 0</a:t>
            </a:r>
            <a:endParaRPr/>
          </a:p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不等于内容正确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8039100" y="3295650"/>
            <a:ext cx="3771900" cy="2876550"/>
          </a:xfrm>
          <a:prstGeom prst="roundRect">
            <a:avLst>
              <a:gd name="adj" fmla="val 198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8191500" y="3867150"/>
            <a:ext cx="3467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为什么这一类最危险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191500" y="4152900"/>
            <a:ext cx="3467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崩溃会停下来，它不会。它带着坏产物继续往下走，一直混进成片里，而进度条上看不出任何异常。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191500" y="4733925"/>
            <a:ext cx="34671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191500" y="4819650"/>
            <a:ext cx="3467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后来的做法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191500" y="5105400"/>
            <a:ext cx="3467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凡是调外部工具的环节，都在结果侧再取一次样：从生成的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里把文字抽出来，查关键字符串还在不在。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426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数字人那个坑的成因：人脸裁剪框的宽高是奇数时，编码器直接拒绝工作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成果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拿得出来的东西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这一页不放示意图，下面这一栏是跑出来的帧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81000" y="1466850"/>
            <a:ext cx="11430000" cy="2781300"/>
          </a:xfrm>
          <a:prstGeom prst="roundRect">
            <a:avLst>
              <a:gd name="adj" fmla="val 20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 r:embed="rId1"/>
          <a:srcRect l="0" t="1707" r="0" b="1707"/>
          <a:stretch>
            <a:fillRect/>
          </a:stretch>
        </p:blipFill>
        <p:spPr>
          <a:xfrm rot="0" flipH="0" flipV="0">
            <a:off x="419100" y="1504950"/>
            <a:ext cx="11353800" cy="2705100"/>
          </a:xfrm>
          <a:prstGeom prst="rect">
            <a:avLst/>
          </a:prstGeom>
          <a:ln/>
        </p:spPr>
      </p:pic>
      <p:sp>
        <p:nvSpPr>
          <p:cNvPr id="114" name=""/>
          <p:cNvSpPr/>
          <p:nvPr/>
        </p:nvSpPr>
        <p:spPr>
          <a:xfrm rot="0" flipH="0" flipV="0">
            <a:off x="381000" y="4381500"/>
            <a:ext cx="3676650" cy="175260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52450" y="4533900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4A5568"/>
                </a:solidFill>
                <a:latin typeface="Microsoft YaHei"/>
                <a:ea typeface="Microsoft YaHei"/>
              </a:rPr>
              <a:t>自动化断言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52450" y="4762500"/>
            <a:ext cx="3333750" cy="5048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310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项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" y="5286375"/>
            <a:ext cx="3333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分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14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组覆盖接口与流程，跑一次不消耗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API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额度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" y="5819775"/>
            <a:ext cx="3333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其中含专门的反面对照组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4248150" y="4381500"/>
            <a:ext cx="3676650" cy="175260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419600" y="4533900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4A5568"/>
                </a:solidFill>
                <a:latin typeface="Microsoft YaHei"/>
                <a:ea typeface="Microsoft YaHei"/>
              </a:rPr>
              <a:t>生成出来的视频文件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419600" y="4762500"/>
            <a:ext cx="3333750" cy="5048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189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419600" y="5286375"/>
            <a:ext cx="3333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15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段数字人逐页片段，成片由它们拼接而成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419600" y="5819775"/>
            <a:ext cx="3333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另有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张真实渲染的幻灯片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8115300" y="4381500"/>
            <a:ext cx="3695700" cy="1752600"/>
          </a:xfrm>
          <a:prstGeom prst="roundRect">
            <a:avLst>
              <a:gd name="adj" fmla="val 3261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dash"/>
          </a:ln>
        </p:spPr>
        <p:txBody>
          <a:bodyPr/>
          <a:p>
            <a:pPr/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286750" y="4533900"/>
            <a:ext cx="335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1E4FA8"/>
                </a:solidFill>
                <a:latin typeface="Microsoft YaHei"/>
                <a:ea typeface="Microsoft YaHei"/>
              </a:rPr>
              <a:t>完整成片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86750" y="4781550"/>
            <a:ext cx="3352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待放入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86750" y="5076825"/>
            <a:ext cx="3352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把拼好的视频放进项目目录后，替换这一格并放一张封面帧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86750" y="5819775"/>
            <a:ext cx="335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Microsoft YaHei"/>
                <a:ea typeface="Microsoft YaHei"/>
              </a:rPr>
              <a:t>目前只有逐页片段，尚未整体拼接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90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数字人帧抽自本机产出的逐页片段（第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4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7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10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15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页）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057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三件事分开说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2847975" y="1028700"/>
            <a:ext cx="2914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哪是我的功劳，哪是运气，哪是我记错了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28625" y="1485900"/>
            <a:ext cx="3571875" cy="4686300"/>
          </a:xfrm>
          <a:prstGeom prst="roundRect">
            <a:avLst>
              <a:gd name="adj" fmla="val 1600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428625" y="1485900"/>
            <a:ext cx="3571875" cy="4686300"/>
          </a:xfrm>
          <a:custGeom>
            <a:pathLst>
              <a:path w="375" h="492">
                <a:moveTo>
                  <a:pt x="6" y="0"/>
                </a:moveTo>
                <a:cubicBezTo>
                  <a:pt x="5" y="0"/>
                  <a:pt x="5" y="0"/>
                  <a:pt x="5" y="1"/>
                </a:cubicBezTo>
                <a:lnTo>
                  <a:pt x="5" y="491"/>
                </a:lnTo>
                <a:cubicBezTo>
                  <a:pt x="5" y="492"/>
                  <a:pt x="5" y="492"/>
                  <a:pt x="6" y="492"/>
                </a:cubicBezTo>
                <a:cubicBezTo>
                  <a:pt x="3" y="492"/>
                  <a:pt x="0" y="489"/>
                  <a:pt x="0" y="48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76275" y="1771650"/>
            <a:ext cx="3076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225">
                <a:solidFill>
                  <a:srgbClr val="1E4FA8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76275" y="30956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33425" y="31527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76325" y="31337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做对的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76275" y="35147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733425" y="35718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076325" y="355282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靠运气的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76275" y="39338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33425" y="39909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076325" y="39719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记错的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76275" y="5372100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这一页按这三类划分。把不属于自己的功劳认领了，比说错一个数更麻烦。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4267200" y="14859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267200" y="14859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438650" y="18097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把一条判据留下来了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438650" y="21145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退出码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不等于内容正确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"——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凡是要调外部工具的环节，都在结果侧再取一次样。改过的地方也都配了自检脚本，环境重装之后一条命令就能验回来。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4267200" y="30861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4267200" y="30861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438650" y="34099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换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API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那一步几乎没改代码，这是运气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438650" y="37147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上游那个取模型配置的函数本来就写了兜底分支，换模型只要传个参数。省下来的工作量不是我做出来的，我把这一点写进了文档，免得被当成工作量。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267200" y="46863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CEB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4267200" y="46863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438650" y="50101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A32D2D"/>
                </a:solidFill>
                <a:latin typeface="Microsoft YaHei"/>
                <a:ea typeface="Microsoft YaHei"/>
              </a:rPr>
              <a:t>两个错误在笔记里记了很久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4438650" y="53149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一个是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上游代码被忽略、不要改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，实际它一直在版本控制里——照这个理解我会白白重打一遍补丁。另一个是数字人的型号：两份文档写的不是同一个，而代码里的默认值是第三个。两处都是翻代码才发现的。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已按核实结果修正两处记录，并同步到文档与项目笔记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b="1">
                <a:solidFill>
                  <a:srgbClr val="FFFFFF"/>
                </a:solidFill>
                <a:latin typeface="Microsoft YaHei"/>
                <a:ea typeface="Microsoft YaHei"/>
              </a:rPr>
              <a:t>还没做的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09600" y="1266825"/>
            <a:ext cx="10972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下面四条都是能验证的，不是</a:t>
            </a:r>
            <a:r>
              <a:rPr lang="en-US" sz="1425">
                <a:solidFill>
                  <a:srgbClr val="8FB6E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继续优化</a:t>
            </a:r>
            <a:r>
              <a:rPr lang="en-US" sz="1425">
                <a:solidFill>
                  <a:srgbClr val="8FB6E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这种话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09600" y="169545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81050" y="200977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矢量图的阈值还没标定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81050" y="227647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手头两篇论文里一个矢量簇都没聚出来，所以规则定得偏保守，遇到</a:t>
            </a:r>
            <a:r>
              <a:rPr lang="en-US" sz="1125">
                <a:solidFill>
                  <a:srgbClr val="CFE0F5"/>
                </a:solidFill>
                <a:latin typeface="Microsoft YaHei"/>
                <a:ea typeface="Microsoft YaHei"/>
              </a:rPr>
              <a:t> matplotlib </a:t>
            </a: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直出的论文要重新测。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09600" y="323850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781050" y="355282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论文那四项评测指标一条都没跑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81050" y="381952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要复现论文里报的数字，必须换回它的原始模型组合。也就是说，做出来的东西还没有跟原论文对齐着量过。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181725" y="169545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353175" y="200977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本机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 GPU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上的产物还没进缓存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353175" y="227647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现在只有联网的两步能靠指纹跳过。语音、光标、数字人这三段每次都要重跑，占了一条片子</a:t>
            </a:r>
            <a:r>
              <a:rPr lang="en-US" sz="1125">
                <a:solidFill>
                  <a:srgbClr val="CFE0F5"/>
                </a:solidFill>
                <a:latin typeface="Microsoft YaHei"/>
                <a:ea typeface="Microsoft YaHei"/>
              </a:rPr>
              <a:t> 24 </a:t>
            </a: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分钟里的绝大部分。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181725" y="323850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353175" y="355282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多人使用还缺三件事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353175" y="381952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按人统计用量、排队可见、内网访问。现在只监听本机回环地址，凭据倒是已经按任务隔离了。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47700" y="4762500"/>
            <a:ext cx="10972800" cy="1371600"/>
          </a:xfrm>
          <a:prstGeom prst="roundRect">
            <a:avLst>
              <a:gd name="adj" fmla="val 2778"/>
            </a:avLst>
          </a:prstGeom>
          <a:solidFill>
            <a:srgbClr val="15529E"/>
          </a:solidFill>
          <a:ln/>
        </p:spPr>
        <p:txBody>
          <a:bodyPr/>
          <a:p>
            <a:pPr/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47700" y="4762500"/>
            <a:ext cx="10972800" cy="1371600"/>
          </a:xfrm>
          <a:custGeom>
            <a:pathLst>
              <a:path w="1152" h="144">
                <a:moveTo>
                  <a:pt x="4" y="144"/>
                </a:moveTo>
                <a:cubicBezTo>
                  <a:pt x="2" y="144"/>
                  <a:pt x="0" y="142"/>
                  <a:pt x="0" y="14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44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38200" y="5191125"/>
            <a:ext cx="10553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8FB6E8"/>
                </a:solidFill>
                <a:latin typeface="Microsoft YaHei"/>
                <a:ea typeface="Microsoft YaHei"/>
              </a:rPr>
              <a:t>最后一条不是待办，是结论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38200" y="5410200"/>
            <a:ext cx="105537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模型全部换过之后，论文报告的那些数字不能当成这套系统的成绩——它们来自另一套模型组合。我做的是一次在单卡约束下的重新选型。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3295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致谢</a:t>
            </a:r>
            <a:r>
              <a:rPr lang="en-US" sz="1125">
                <a:solidFill>
                  <a:srgbClr val="8FB6E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联系方式</a:t>
            </a:r>
            <a:r>
              <a:rPr lang="en-US" sz="1125">
                <a:solidFill>
                  <a:srgbClr val="8FB6E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仓库地址：＿＿＿＿＿＿＿＿＿＿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039475" y="640080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2026-09-19T16:39:17Z</dcterms:created>
  <dcterms:modified xsi:type="dcterms:W3CDTF">2026-09-19T16:39:17Z</dcterms:modified>
</cp:coreProperties>
</file>